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9876"/>
    <a:srgbClr val="8B9A9F"/>
    <a:srgbClr val="434E60"/>
    <a:srgbClr val="494D56"/>
    <a:srgbClr val="262A36"/>
    <a:srgbClr val="1417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4" autoAdjust="0"/>
    <p:restoredTop sz="94660"/>
  </p:normalViewPr>
  <p:slideViewPr>
    <p:cSldViewPr snapToGrid="0">
      <p:cViewPr varScale="1">
        <p:scale>
          <a:sx n="72" d="100"/>
          <a:sy n="72" d="100"/>
        </p:scale>
        <p:origin x="264" y="48"/>
      </p:cViewPr>
      <p:guideLst/>
    </p:cSldViewPr>
  </p:slideViewPr>
  <p:notesTextViewPr>
    <p:cViewPr>
      <p:scale>
        <a:sx n="1" d="1"/>
        <a:sy n="1" d="1"/>
      </p:scale>
      <p:origin x="0" y="0"/>
    </p:cViewPr>
  </p:notesTextViewPr>
  <p:sorterViewPr>
    <p:cViewPr>
      <p:scale>
        <a:sx n="200" d="100"/>
        <a:sy n="200" d="100"/>
      </p:scale>
      <p:origin x="0" y="-373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C8FAA-64F8-41AD-8D3D-05A52BB24C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D3FFAF39-D999-4322-8FD8-FDA0271D2A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CF9A1C2-B973-4724-8A83-EE8CE1A358B7}"/>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5" name="Footer Placeholder 4">
            <a:extLst>
              <a:ext uri="{FF2B5EF4-FFF2-40B4-BE49-F238E27FC236}">
                <a16:creationId xmlns:a16="http://schemas.microsoft.com/office/drawing/2014/main" id="{9F3BA0B6-A688-4C79-81C7-2BCF04A76CE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6AFA7BD-9D2E-4F71-97CE-0545F2A626CA}"/>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2686094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ABE23-AA93-4B31-97E8-70E40823DE76}"/>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2F302B89-FAE3-4A89-970D-DDA0F9BE5D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C94A545-CA21-408D-9AED-69FA8F62B8F8}"/>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5" name="Footer Placeholder 4">
            <a:extLst>
              <a:ext uri="{FF2B5EF4-FFF2-40B4-BE49-F238E27FC236}">
                <a16:creationId xmlns:a16="http://schemas.microsoft.com/office/drawing/2014/main" id="{4C343E2A-959C-43A4-8822-000491C6317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8BA747A-0842-481C-B65D-4A7CFD0B0C22}"/>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2044268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51E90-2E0C-4B1B-8D9E-C3B5C761DA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D7F6C1C5-B18A-4DA7-A5EA-EE6127120E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19C7B9-1434-42B4-A4D4-6ED5CDA6B9D0}"/>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5" name="Footer Placeholder 4">
            <a:extLst>
              <a:ext uri="{FF2B5EF4-FFF2-40B4-BE49-F238E27FC236}">
                <a16:creationId xmlns:a16="http://schemas.microsoft.com/office/drawing/2014/main" id="{9AAD6705-AEEB-4EDA-B179-C1F4A9562DB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23C8472-B46F-4171-BF09-B1E18D37B38A}"/>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2889367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536C-DD48-4B2D-8F4A-2AA51B403C0B}"/>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08A52FD1-EF0A-45D3-81A2-40531D0F01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41BC4581-BF72-489D-AA28-16536ECF71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30C8CB20-4900-41E7-BD10-F27514CCC5C4}"/>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6" name="Footer Placeholder 5">
            <a:extLst>
              <a:ext uri="{FF2B5EF4-FFF2-40B4-BE49-F238E27FC236}">
                <a16:creationId xmlns:a16="http://schemas.microsoft.com/office/drawing/2014/main" id="{FDAFD210-6FEA-4CFF-A1FE-8B1359EE836C}"/>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BACC4F6-D322-46D8-8B36-33D9A5A1D730}"/>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4245045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A5446-EEC2-47D2-A70B-F3782E3FEC5D}"/>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538250C-7764-4003-9DD1-C71A3CCD87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9441FC-A340-4647-8D17-0C6D8D78C2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D2467DCC-042A-481F-9327-F6EEC92F2E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A11442-0166-4CF2-9DB6-4DEFAB8D34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0B542E6A-39A1-4DE8-9C5B-E7C5A886F825}"/>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8" name="Footer Placeholder 7">
            <a:extLst>
              <a:ext uri="{FF2B5EF4-FFF2-40B4-BE49-F238E27FC236}">
                <a16:creationId xmlns:a16="http://schemas.microsoft.com/office/drawing/2014/main" id="{5BD8767E-8DAE-4C54-BD69-AEB214965185}"/>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A7219554-A0C7-4BDC-96B2-9D99C6060088}"/>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1210772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33998-1F85-4CE2-A1E2-A0C73502C79A}"/>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154BE9DB-7406-478A-A019-A3EC4FA5BD0F}"/>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4" name="Footer Placeholder 3">
            <a:extLst>
              <a:ext uri="{FF2B5EF4-FFF2-40B4-BE49-F238E27FC236}">
                <a16:creationId xmlns:a16="http://schemas.microsoft.com/office/drawing/2014/main" id="{8057E88A-49B3-4445-9DC3-FC9A17618806}"/>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E0667DA2-F4F4-4A03-A622-DF29FAF94818}"/>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4102608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EC8622-2ABA-4181-961B-40E18ABAACD2}"/>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3" name="Footer Placeholder 2">
            <a:extLst>
              <a:ext uri="{FF2B5EF4-FFF2-40B4-BE49-F238E27FC236}">
                <a16:creationId xmlns:a16="http://schemas.microsoft.com/office/drawing/2014/main" id="{5DA41B52-796F-4655-985A-9D6C9D3A7A7D}"/>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0501B3AA-FEF9-4B66-A507-A85EF12C8FA9}"/>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227490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9BB7-26CE-491C-9C22-D1D63B5AA9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6A13EC7C-AFEA-4FEC-9BC2-F7AA51666D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440678CD-52C0-4015-A214-87DCF40A3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2E6BA1-49BF-4630-AA77-E7E762FAB71E}"/>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6" name="Footer Placeholder 5">
            <a:extLst>
              <a:ext uri="{FF2B5EF4-FFF2-40B4-BE49-F238E27FC236}">
                <a16:creationId xmlns:a16="http://schemas.microsoft.com/office/drawing/2014/main" id="{40BB53A9-1CC9-43F6-8817-68D4421ED28C}"/>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6862665-326C-4830-8122-A2BA265024AC}"/>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1806050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EC95-D22B-4593-8A6F-B979BBFA5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A3D8BF39-3C84-45DC-A13E-1ED4FDD2B3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0B46A6DC-FF75-4BBF-85D0-4400E63B64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C13724-01BE-4565-B1F8-62E9F6D0F0C5}"/>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6" name="Footer Placeholder 5">
            <a:extLst>
              <a:ext uri="{FF2B5EF4-FFF2-40B4-BE49-F238E27FC236}">
                <a16:creationId xmlns:a16="http://schemas.microsoft.com/office/drawing/2014/main" id="{CB5A2EC1-EEF8-47B4-84FA-AC1EFC6EFF7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1EB079D8-C0BC-43B3-987A-6B1F3E4AF699}"/>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2506271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5A2C-51F0-47DC-A69D-AEDDA8E9F3B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62B8007E-0408-4717-8879-C26D755F7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019318CF-D253-4A09-86D7-B1F33C5787F5}"/>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5" name="Footer Placeholder 4">
            <a:extLst>
              <a:ext uri="{FF2B5EF4-FFF2-40B4-BE49-F238E27FC236}">
                <a16:creationId xmlns:a16="http://schemas.microsoft.com/office/drawing/2014/main" id="{5C9B3737-6DD4-4E3E-A9DB-009964C6289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3D837AC-98BB-48F5-A439-211EF0E1C568}"/>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419565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B5B124-AB7F-43EB-887C-232965C9EC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AA5A7621-EFA2-4EC6-9B01-022F1B9291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82E0C06-0C8B-4317-8E20-A9FCDB775A8C}"/>
              </a:ext>
            </a:extLst>
          </p:cNvPr>
          <p:cNvSpPr>
            <a:spLocks noGrp="1"/>
          </p:cNvSpPr>
          <p:nvPr>
            <p:ph type="dt" sz="half" idx="10"/>
          </p:nvPr>
        </p:nvSpPr>
        <p:spPr/>
        <p:txBody>
          <a:bodyPr/>
          <a:lstStyle/>
          <a:p>
            <a:fld id="{C45112D7-DE36-4BB6-99DB-E2B9DDAB2145}" type="datetimeFigureOut">
              <a:rPr lang="en-PH" smtClean="0"/>
              <a:t>10/19/2026</a:t>
            </a:fld>
            <a:endParaRPr lang="en-PH"/>
          </a:p>
        </p:txBody>
      </p:sp>
      <p:sp>
        <p:nvSpPr>
          <p:cNvPr id="5" name="Footer Placeholder 4">
            <a:extLst>
              <a:ext uri="{FF2B5EF4-FFF2-40B4-BE49-F238E27FC236}">
                <a16:creationId xmlns:a16="http://schemas.microsoft.com/office/drawing/2014/main" id="{2A28CA28-8571-430D-A986-FF8C900EBA2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65FAB21-A5C2-4912-B7B1-791ABC5E7E66}"/>
              </a:ext>
            </a:extLst>
          </p:cNvPr>
          <p:cNvSpPr>
            <a:spLocks noGrp="1"/>
          </p:cNvSpPr>
          <p:nvPr>
            <p:ph type="sldNum" sz="quarter" idx="12"/>
          </p:nvPr>
        </p:nvSpPr>
        <p:spPr/>
        <p:txBody>
          <a:bodyPr/>
          <a:lstStyle/>
          <a:p>
            <a:fld id="{B1A0A4EE-02D7-4766-9FDD-14AA24FE677D}" type="slidenum">
              <a:rPr lang="en-PH" smtClean="0"/>
              <a:t>‹#›</a:t>
            </a:fld>
            <a:endParaRPr lang="en-PH"/>
          </a:p>
        </p:txBody>
      </p:sp>
    </p:spTree>
    <p:extLst>
      <p:ext uri="{BB962C8B-B14F-4D97-AF65-F5344CB8AC3E}">
        <p14:creationId xmlns:p14="http://schemas.microsoft.com/office/powerpoint/2010/main" val="1495772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86C287-CAAA-441C-98C7-2C9043887F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A3DBB281-64A2-4113-94C5-03D491C93B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2B0E8F8-D1FA-4BA2-A571-CBA69D6696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5112D7-DE36-4BB6-99DB-E2B9DDAB2145}" type="datetimeFigureOut">
              <a:rPr lang="en-PH" smtClean="0"/>
              <a:t>10/19/2026</a:t>
            </a:fld>
            <a:endParaRPr lang="en-PH"/>
          </a:p>
        </p:txBody>
      </p:sp>
      <p:sp>
        <p:nvSpPr>
          <p:cNvPr id="5" name="Footer Placeholder 4">
            <a:extLst>
              <a:ext uri="{FF2B5EF4-FFF2-40B4-BE49-F238E27FC236}">
                <a16:creationId xmlns:a16="http://schemas.microsoft.com/office/drawing/2014/main" id="{508AE955-27B9-4636-A53B-8C02B1E134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A6FC6B7B-9981-4A7F-B3AE-5A415CFFAE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0A4EE-02D7-4766-9FDD-14AA24FE677D}" type="slidenum">
              <a:rPr lang="en-PH" smtClean="0"/>
              <a:t>‹#›</a:t>
            </a:fld>
            <a:endParaRPr lang="en-PH"/>
          </a:p>
        </p:txBody>
      </p:sp>
    </p:spTree>
    <p:extLst>
      <p:ext uri="{BB962C8B-B14F-4D97-AF65-F5344CB8AC3E}">
        <p14:creationId xmlns:p14="http://schemas.microsoft.com/office/powerpoint/2010/main" val="25897289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jp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9542267-7394-40AF-BADF-21A7A6AA09E0}"/>
              </a:ext>
            </a:extLst>
          </p:cNvPr>
          <p:cNvSpPr/>
          <p:nvPr/>
        </p:nvSpPr>
        <p:spPr>
          <a:xfrm>
            <a:off x="503681" y="565263"/>
            <a:ext cx="11898908" cy="6631404"/>
          </a:xfrm>
          <a:prstGeom prst="rect">
            <a:avLst/>
          </a:prstGeom>
          <a:solidFill>
            <a:srgbClr val="262A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pic>
        <p:nvPicPr>
          <p:cNvPr id="41" name="Picture 40">
            <a:extLst>
              <a:ext uri="{FF2B5EF4-FFF2-40B4-BE49-F238E27FC236}">
                <a16:creationId xmlns:a16="http://schemas.microsoft.com/office/drawing/2014/main" id="{CF0B62CD-72AD-4462-81F1-7274F86B9718}"/>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382095" y="565264"/>
            <a:ext cx="9327171" cy="6120126"/>
          </a:xfrm>
          <a:prstGeom prst="rect">
            <a:avLst/>
          </a:prstGeom>
        </p:spPr>
      </p:pic>
      <p:grpSp>
        <p:nvGrpSpPr>
          <p:cNvPr id="28" name="Group 27">
            <a:extLst>
              <a:ext uri="{FF2B5EF4-FFF2-40B4-BE49-F238E27FC236}">
                <a16:creationId xmlns:a16="http://schemas.microsoft.com/office/drawing/2014/main" id="{0FFF0BF0-4C3F-46B5-8594-C1597D8CAEF0}"/>
              </a:ext>
            </a:extLst>
          </p:cNvPr>
          <p:cNvGrpSpPr/>
          <p:nvPr/>
        </p:nvGrpSpPr>
        <p:grpSpPr>
          <a:xfrm>
            <a:off x="8312" y="3240101"/>
            <a:ext cx="9709266" cy="3981796"/>
            <a:chOff x="0" y="2190750"/>
            <a:chExt cx="11440160" cy="4667250"/>
          </a:xfrm>
        </p:grpSpPr>
        <p:pic>
          <p:nvPicPr>
            <p:cNvPr id="25" name="Picture 24">
              <a:extLst>
                <a:ext uri="{FF2B5EF4-FFF2-40B4-BE49-F238E27FC236}">
                  <a16:creationId xmlns:a16="http://schemas.microsoft.com/office/drawing/2014/main" id="{3EFE1E40-6792-42F7-A4CF-E5EC0358CE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90750"/>
              <a:ext cx="7000874" cy="4667250"/>
            </a:xfrm>
            <a:prstGeom prst="rect">
              <a:avLst/>
            </a:prstGeom>
          </p:spPr>
        </p:pic>
        <p:pic>
          <p:nvPicPr>
            <p:cNvPr id="26" name="Picture 25">
              <a:extLst>
                <a:ext uri="{FF2B5EF4-FFF2-40B4-BE49-F238E27FC236}">
                  <a16:creationId xmlns:a16="http://schemas.microsoft.com/office/drawing/2014/main" id="{B52DE818-F244-4C1E-B8B7-960AF7D43237}"/>
                </a:ext>
              </a:extLst>
            </p:cNvPr>
            <p:cNvPicPr>
              <a:picLocks noChangeAspect="1"/>
            </p:cNvPicPr>
            <p:nvPr/>
          </p:nvPicPr>
          <p:blipFill rotWithShape="1">
            <a:blip r:embed="rId3">
              <a:extLst>
                <a:ext uri="{28A0092B-C50C-407E-A947-70E740481C1C}">
                  <a14:useLocalDpi xmlns:a14="http://schemas.microsoft.com/office/drawing/2010/main" val="0"/>
                </a:ext>
              </a:extLst>
            </a:blip>
            <a:srcRect t="42830"/>
            <a:stretch/>
          </p:blipFill>
          <p:spPr>
            <a:xfrm>
              <a:off x="5730240" y="4524375"/>
              <a:ext cx="5709920" cy="2303145"/>
            </a:xfrm>
            <a:prstGeom prst="rect">
              <a:avLst/>
            </a:prstGeom>
          </p:spPr>
        </p:pic>
      </p:grpSp>
      <p:sp>
        <p:nvSpPr>
          <p:cNvPr id="27" name="Rectangle 26">
            <a:extLst>
              <a:ext uri="{FF2B5EF4-FFF2-40B4-BE49-F238E27FC236}">
                <a16:creationId xmlns:a16="http://schemas.microsoft.com/office/drawing/2014/main" id="{FC4092C9-D88B-4813-AC07-98BE453AB3F5}"/>
              </a:ext>
            </a:extLst>
          </p:cNvPr>
          <p:cNvSpPr/>
          <p:nvPr/>
        </p:nvSpPr>
        <p:spPr>
          <a:xfrm rot="226134">
            <a:off x="3204467" y="3155952"/>
            <a:ext cx="383625" cy="1148080"/>
          </a:xfrm>
          <a:prstGeom prst="rect">
            <a:avLst/>
          </a:prstGeom>
          <a:solidFill>
            <a:srgbClr val="262A36"/>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4" name="TextBox 33">
            <a:extLst>
              <a:ext uri="{FF2B5EF4-FFF2-40B4-BE49-F238E27FC236}">
                <a16:creationId xmlns:a16="http://schemas.microsoft.com/office/drawing/2014/main" id="{904FA8CE-EFDD-488C-A73B-32FB4743B13B}"/>
              </a:ext>
            </a:extLst>
          </p:cNvPr>
          <p:cNvSpPr txBox="1"/>
          <p:nvPr/>
        </p:nvSpPr>
        <p:spPr>
          <a:xfrm>
            <a:off x="724747" y="1405276"/>
            <a:ext cx="9479888" cy="2308324"/>
          </a:xfrm>
          <a:prstGeom prst="rect">
            <a:avLst/>
          </a:prstGeom>
          <a:noFill/>
        </p:spPr>
        <p:txBody>
          <a:bodyPr wrap="square" rtlCol="0">
            <a:spAutoFit/>
          </a:bodyPr>
          <a:lstStyle/>
          <a:p>
            <a:r>
              <a:rPr lang="en-US" sz="7200" dirty="0">
                <a:solidFill>
                  <a:srgbClr val="BC9876"/>
                </a:solidFill>
                <a:latin typeface="Arial Black" panose="020B0A04020102020204" pitchFamily="34" charset="0"/>
              </a:rPr>
              <a:t>COMMUNITY AID NETWORK</a:t>
            </a:r>
            <a:endParaRPr lang="en-PH" sz="7200" dirty="0">
              <a:solidFill>
                <a:srgbClr val="BC9876"/>
              </a:solidFill>
              <a:latin typeface="Arial Black" panose="020B0A04020102020204" pitchFamily="34" charset="0"/>
            </a:endParaRPr>
          </a:p>
        </p:txBody>
      </p:sp>
      <p:cxnSp>
        <p:nvCxnSpPr>
          <p:cNvPr id="44" name="Straight Connector 43">
            <a:extLst>
              <a:ext uri="{FF2B5EF4-FFF2-40B4-BE49-F238E27FC236}">
                <a16:creationId xmlns:a16="http://schemas.microsoft.com/office/drawing/2014/main" id="{DFF28384-1F63-46D0-86FA-18A23032082A}"/>
              </a:ext>
            </a:extLst>
          </p:cNvPr>
          <p:cNvCxnSpPr>
            <a:cxnSpLocks/>
          </p:cNvCxnSpPr>
          <p:nvPr/>
        </p:nvCxnSpPr>
        <p:spPr>
          <a:xfrm>
            <a:off x="9809018" y="2593571"/>
            <a:ext cx="0" cy="4260273"/>
          </a:xfrm>
          <a:prstGeom prst="line">
            <a:avLst/>
          </a:prstGeom>
          <a:ln>
            <a:solidFill>
              <a:srgbClr val="8B9A9F"/>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F660040-D546-445B-AE78-F7B0A943F8C2}"/>
              </a:ext>
            </a:extLst>
          </p:cNvPr>
          <p:cNvSpPr txBox="1"/>
          <p:nvPr/>
        </p:nvSpPr>
        <p:spPr>
          <a:xfrm>
            <a:off x="787101" y="844497"/>
            <a:ext cx="5403273" cy="584775"/>
          </a:xfrm>
          <a:prstGeom prst="rect">
            <a:avLst/>
          </a:prstGeom>
          <a:noFill/>
        </p:spPr>
        <p:txBody>
          <a:bodyPr wrap="square" rtlCol="0">
            <a:spAutoFit/>
          </a:bodyPr>
          <a:lstStyle/>
          <a:p>
            <a:r>
              <a:rPr lang="en-US" sz="3200" dirty="0">
                <a:solidFill>
                  <a:schemeClr val="bg1"/>
                </a:solidFill>
                <a:latin typeface="Arial Black" panose="020B0A04020102020204" pitchFamily="34" charset="0"/>
              </a:rPr>
              <a:t>PROJECT NEXUS</a:t>
            </a:r>
            <a:endParaRPr lang="en-PH" sz="3200" dirty="0">
              <a:solidFill>
                <a:schemeClr val="bg1"/>
              </a:solidFill>
              <a:latin typeface="Arial Black" panose="020B0A04020102020204" pitchFamily="34" charset="0"/>
            </a:endParaRPr>
          </a:p>
        </p:txBody>
      </p:sp>
      <p:sp>
        <p:nvSpPr>
          <p:cNvPr id="50" name="Rectangle: Rounded Corners 49">
            <a:extLst>
              <a:ext uri="{FF2B5EF4-FFF2-40B4-BE49-F238E27FC236}">
                <a16:creationId xmlns:a16="http://schemas.microsoft.com/office/drawing/2014/main" id="{375E6191-E866-4E47-A874-0D4A3C6484EF}"/>
              </a:ext>
            </a:extLst>
          </p:cNvPr>
          <p:cNvSpPr/>
          <p:nvPr/>
        </p:nvSpPr>
        <p:spPr>
          <a:xfrm>
            <a:off x="503681" y="150074"/>
            <a:ext cx="2663468" cy="253916"/>
          </a:xfrm>
          <a:prstGeom prst="roundRect">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1" name="TextBox 50">
            <a:extLst>
              <a:ext uri="{FF2B5EF4-FFF2-40B4-BE49-F238E27FC236}">
                <a16:creationId xmlns:a16="http://schemas.microsoft.com/office/drawing/2014/main" id="{67BA876F-7455-44B3-B870-698DF2F84F53}"/>
              </a:ext>
            </a:extLst>
          </p:cNvPr>
          <p:cNvSpPr txBox="1"/>
          <p:nvPr/>
        </p:nvSpPr>
        <p:spPr>
          <a:xfrm>
            <a:off x="611471" y="150075"/>
            <a:ext cx="2863249" cy="253916"/>
          </a:xfrm>
          <a:prstGeom prst="rect">
            <a:avLst/>
          </a:prstGeom>
          <a:noFill/>
        </p:spPr>
        <p:txBody>
          <a:bodyPr wrap="square" rtlCol="0">
            <a:spAutoFit/>
          </a:bodyPr>
          <a:lstStyle/>
          <a:p>
            <a:r>
              <a:rPr lang="en-US" sz="1050" dirty="0"/>
              <a:t>CAPSTONE PROJECT – SOFTWARE DESIGN</a:t>
            </a:r>
            <a:endParaRPr lang="en-PH" sz="1050" dirty="0"/>
          </a:p>
        </p:txBody>
      </p:sp>
      <p:sp>
        <p:nvSpPr>
          <p:cNvPr id="53" name="TextBox 52">
            <a:extLst>
              <a:ext uri="{FF2B5EF4-FFF2-40B4-BE49-F238E27FC236}">
                <a16:creationId xmlns:a16="http://schemas.microsoft.com/office/drawing/2014/main" id="{D4E63602-2A99-472B-86C3-ADBEB9FFD013}"/>
              </a:ext>
            </a:extLst>
          </p:cNvPr>
          <p:cNvSpPr txBox="1"/>
          <p:nvPr/>
        </p:nvSpPr>
        <p:spPr>
          <a:xfrm>
            <a:off x="787101" y="3612659"/>
            <a:ext cx="7850885" cy="369332"/>
          </a:xfrm>
          <a:prstGeom prst="rect">
            <a:avLst/>
          </a:prstGeom>
          <a:noFill/>
        </p:spPr>
        <p:txBody>
          <a:bodyPr wrap="square">
            <a:spAutoFit/>
          </a:bodyPr>
          <a:lstStyle/>
          <a:p>
            <a:r>
              <a:rPr lang="en-US" dirty="0">
                <a:solidFill>
                  <a:schemeClr val="accent1">
                    <a:lumMod val="20000"/>
                    <a:lumOff val="80000"/>
                  </a:schemeClr>
                </a:solidFill>
                <a:latin typeface="Aharoni" panose="02010803020104030203" pitchFamily="2" charset="-79"/>
                <a:cs typeface="Aharoni" panose="02010803020104030203" pitchFamily="2" charset="-79"/>
              </a:rPr>
              <a:t>A Web-Based Platform for Disaster Response and Social Support </a:t>
            </a:r>
            <a:endParaRPr lang="en-PH" dirty="0">
              <a:solidFill>
                <a:schemeClr val="accent1">
                  <a:lumMod val="20000"/>
                  <a:lumOff val="80000"/>
                </a:schemeClr>
              </a:solidFill>
              <a:latin typeface="Aharoni" panose="02010803020104030203" pitchFamily="2" charset="-79"/>
              <a:cs typeface="Aharoni" panose="02010803020104030203" pitchFamily="2" charset="-79"/>
            </a:endParaRPr>
          </a:p>
        </p:txBody>
      </p:sp>
      <p:sp>
        <p:nvSpPr>
          <p:cNvPr id="55" name="TextBox 54">
            <a:extLst>
              <a:ext uri="{FF2B5EF4-FFF2-40B4-BE49-F238E27FC236}">
                <a16:creationId xmlns:a16="http://schemas.microsoft.com/office/drawing/2014/main" id="{523C9AC7-ECBF-4606-BEC5-4A7692DEEE21}"/>
              </a:ext>
            </a:extLst>
          </p:cNvPr>
          <p:cNvSpPr txBox="1"/>
          <p:nvPr/>
        </p:nvSpPr>
        <p:spPr>
          <a:xfrm>
            <a:off x="9982099" y="1561785"/>
            <a:ext cx="2128057" cy="1384995"/>
          </a:xfrm>
          <a:prstGeom prst="rect">
            <a:avLst/>
          </a:prstGeom>
          <a:noFill/>
        </p:spPr>
        <p:txBody>
          <a:bodyPr wrap="square" rtlCol="0">
            <a:spAutoFit/>
          </a:bodyPr>
          <a:lstStyle/>
          <a:p>
            <a:r>
              <a:rPr lang="en-US" sz="1200" dirty="0">
                <a:solidFill>
                  <a:schemeClr val="bg1"/>
                </a:solidFill>
              </a:rPr>
              <a:t>A Capstone Project presented to the Faculty of the College of Engineering and Digital Technology, ICCT Colleges Foundation Inc., in partial fulfillment of the requirements for the course Software Design.</a:t>
            </a:r>
            <a:endParaRPr lang="en-PH" sz="1200" dirty="0">
              <a:solidFill>
                <a:schemeClr val="bg1"/>
              </a:solidFill>
            </a:endParaRPr>
          </a:p>
        </p:txBody>
      </p:sp>
      <p:sp>
        <p:nvSpPr>
          <p:cNvPr id="56" name="TextBox 55">
            <a:extLst>
              <a:ext uri="{FF2B5EF4-FFF2-40B4-BE49-F238E27FC236}">
                <a16:creationId xmlns:a16="http://schemas.microsoft.com/office/drawing/2014/main" id="{6635F514-FD89-45BC-8E75-8E661633DCE3}"/>
              </a:ext>
            </a:extLst>
          </p:cNvPr>
          <p:cNvSpPr txBox="1"/>
          <p:nvPr/>
        </p:nvSpPr>
        <p:spPr>
          <a:xfrm>
            <a:off x="9991899" y="3494251"/>
            <a:ext cx="1787237" cy="369332"/>
          </a:xfrm>
          <a:prstGeom prst="rect">
            <a:avLst/>
          </a:prstGeom>
          <a:noFill/>
        </p:spPr>
        <p:txBody>
          <a:bodyPr wrap="square" rtlCol="0">
            <a:spAutoFit/>
          </a:bodyPr>
          <a:lstStyle/>
          <a:p>
            <a:r>
              <a:rPr lang="en-US" dirty="0">
                <a:solidFill>
                  <a:srgbClr val="BC9876"/>
                </a:solidFill>
              </a:rPr>
              <a:t>Presented by:</a:t>
            </a:r>
            <a:endParaRPr lang="en-PH" dirty="0">
              <a:solidFill>
                <a:srgbClr val="BC9876"/>
              </a:solidFill>
            </a:endParaRPr>
          </a:p>
        </p:txBody>
      </p:sp>
      <p:sp>
        <p:nvSpPr>
          <p:cNvPr id="58" name="TextBox 57">
            <a:extLst>
              <a:ext uri="{FF2B5EF4-FFF2-40B4-BE49-F238E27FC236}">
                <a16:creationId xmlns:a16="http://schemas.microsoft.com/office/drawing/2014/main" id="{03D54436-0A0C-4A10-8607-43866F1D7E18}"/>
              </a:ext>
            </a:extLst>
          </p:cNvPr>
          <p:cNvSpPr txBox="1"/>
          <p:nvPr/>
        </p:nvSpPr>
        <p:spPr>
          <a:xfrm>
            <a:off x="9982099" y="4316594"/>
            <a:ext cx="2742168" cy="1754326"/>
          </a:xfrm>
          <a:prstGeom prst="rect">
            <a:avLst/>
          </a:prstGeom>
          <a:noFill/>
        </p:spPr>
        <p:txBody>
          <a:bodyPr wrap="square" rtlCol="0">
            <a:spAutoFit/>
          </a:bodyPr>
          <a:lstStyle/>
          <a:p>
            <a:r>
              <a:rPr lang="en-PH" sz="1200" dirty="0">
                <a:solidFill>
                  <a:schemeClr val="bg1"/>
                </a:solidFill>
              </a:rPr>
              <a:t>Bradecina, Art Lenard B.</a:t>
            </a:r>
          </a:p>
          <a:p>
            <a:r>
              <a:rPr lang="en-PH" sz="1200" dirty="0" err="1">
                <a:solidFill>
                  <a:schemeClr val="bg1"/>
                </a:solidFill>
              </a:rPr>
              <a:t>Ladrera</a:t>
            </a:r>
            <a:r>
              <a:rPr lang="en-PH" sz="1200" dirty="0">
                <a:solidFill>
                  <a:schemeClr val="bg1"/>
                </a:solidFill>
              </a:rPr>
              <a:t>, Jose Mariano L. </a:t>
            </a:r>
          </a:p>
          <a:p>
            <a:r>
              <a:rPr lang="en-PH" sz="1200" dirty="0">
                <a:solidFill>
                  <a:schemeClr val="bg1"/>
                </a:solidFill>
              </a:rPr>
              <a:t>Etac, Argie M. </a:t>
            </a:r>
          </a:p>
          <a:p>
            <a:r>
              <a:rPr lang="en-PH" sz="1200" dirty="0">
                <a:solidFill>
                  <a:schemeClr val="bg1"/>
                </a:solidFill>
              </a:rPr>
              <a:t>Bayani, Eunice Gay D. </a:t>
            </a:r>
          </a:p>
          <a:p>
            <a:r>
              <a:rPr lang="en-PH" sz="1200" dirty="0">
                <a:solidFill>
                  <a:schemeClr val="bg1"/>
                </a:solidFill>
              </a:rPr>
              <a:t>Montes, Adrian S. </a:t>
            </a:r>
          </a:p>
          <a:p>
            <a:r>
              <a:rPr lang="en-PH" sz="1200" dirty="0" err="1">
                <a:solidFill>
                  <a:schemeClr val="bg1"/>
                </a:solidFill>
              </a:rPr>
              <a:t>Canatoy</a:t>
            </a:r>
            <a:r>
              <a:rPr lang="en-PH" sz="1200" dirty="0">
                <a:solidFill>
                  <a:schemeClr val="bg1"/>
                </a:solidFill>
              </a:rPr>
              <a:t>, Ara Jean C. </a:t>
            </a:r>
          </a:p>
          <a:p>
            <a:r>
              <a:rPr lang="en-PH" sz="1200" dirty="0">
                <a:solidFill>
                  <a:schemeClr val="bg1"/>
                </a:solidFill>
              </a:rPr>
              <a:t>Cu, </a:t>
            </a:r>
            <a:r>
              <a:rPr lang="en-PH" sz="1200" dirty="0" err="1">
                <a:solidFill>
                  <a:schemeClr val="bg1"/>
                </a:solidFill>
              </a:rPr>
              <a:t>Lanze</a:t>
            </a:r>
            <a:r>
              <a:rPr lang="en-PH" sz="1200" dirty="0">
                <a:solidFill>
                  <a:schemeClr val="bg1"/>
                </a:solidFill>
              </a:rPr>
              <a:t> Axhel Kenneth D. </a:t>
            </a:r>
          </a:p>
          <a:p>
            <a:r>
              <a:rPr lang="en-PH" sz="1200" dirty="0" err="1">
                <a:solidFill>
                  <a:schemeClr val="bg1"/>
                </a:solidFill>
              </a:rPr>
              <a:t>Quiban</a:t>
            </a:r>
            <a:r>
              <a:rPr lang="en-PH" sz="1200" dirty="0">
                <a:solidFill>
                  <a:schemeClr val="bg1"/>
                </a:solidFill>
              </a:rPr>
              <a:t>, Shanti T. </a:t>
            </a:r>
          </a:p>
          <a:p>
            <a:r>
              <a:rPr lang="en-PH" sz="1200" dirty="0" err="1">
                <a:solidFill>
                  <a:schemeClr val="bg1"/>
                </a:solidFill>
              </a:rPr>
              <a:t>Tuvilla</a:t>
            </a:r>
            <a:r>
              <a:rPr lang="en-PH" sz="1200" dirty="0">
                <a:solidFill>
                  <a:schemeClr val="bg1"/>
                </a:solidFill>
              </a:rPr>
              <a:t>, </a:t>
            </a:r>
            <a:r>
              <a:rPr lang="en-PH" sz="1200" dirty="0" err="1">
                <a:solidFill>
                  <a:schemeClr val="bg1"/>
                </a:solidFill>
              </a:rPr>
              <a:t>Anjho</a:t>
            </a:r>
            <a:r>
              <a:rPr lang="en-PH" sz="1200" dirty="0">
                <a:solidFill>
                  <a:schemeClr val="bg1"/>
                </a:solidFill>
              </a:rPr>
              <a:t> M. </a:t>
            </a:r>
          </a:p>
        </p:txBody>
      </p:sp>
    </p:spTree>
    <p:extLst>
      <p:ext uri="{BB962C8B-B14F-4D97-AF65-F5344CB8AC3E}">
        <p14:creationId xmlns:p14="http://schemas.microsoft.com/office/powerpoint/2010/main" val="759018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14D4FA-58A0-4BD4-B8F7-F8DA39366D2E}"/>
              </a:ext>
            </a:extLst>
          </p:cNvPr>
          <p:cNvSpPr/>
          <p:nvPr/>
        </p:nvSpPr>
        <p:spPr>
          <a:xfrm>
            <a:off x="412865" y="737231"/>
            <a:ext cx="11366270" cy="5702531"/>
          </a:xfrm>
          <a:prstGeom prst="rect">
            <a:avLst/>
          </a:prstGeom>
          <a:solidFill>
            <a:srgbClr val="262A3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pic>
        <p:nvPicPr>
          <p:cNvPr id="4" name="Picture 3">
            <a:extLst>
              <a:ext uri="{FF2B5EF4-FFF2-40B4-BE49-F238E27FC236}">
                <a16:creationId xmlns:a16="http://schemas.microsoft.com/office/drawing/2014/main" id="{D68FAC5F-BA2D-459A-B561-D17B55794CEF}"/>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412863" y="-97240"/>
            <a:ext cx="11366272" cy="6700059"/>
          </a:xfrm>
          <a:prstGeom prst="rect">
            <a:avLst/>
          </a:prstGeom>
        </p:spPr>
      </p:pic>
      <p:sp>
        <p:nvSpPr>
          <p:cNvPr id="5" name="TextBox 4">
            <a:extLst>
              <a:ext uri="{FF2B5EF4-FFF2-40B4-BE49-F238E27FC236}">
                <a16:creationId xmlns:a16="http://schemas.microsoft.com/office/drawing/2014/main" id="{01766ACD-DBB3-44FE-883A-020D5352AFE3}"/>
              </a:ext>
            </a:extLst>
          </p:cNvPr>
          <p:cNvSpPr txBox="1"/>
          <p:nvPr/>
        </p:nvSpPr>
        <p:spPr>
          <a:xfrm>
            <a:off x="598516" y="814647"/>
            <a:ext cx="11726452" cy="707886"/>
          </a:xfrm>
          <a:prstGeom prst="rect">
            <a:avLst/>
          </a:prstGeom>
          <a:noFill/>
        </p:spPr>
        <p:txBody>
          <a:bodyPr wrap="square" rtlCol="0">
            <a:spAutoFit/>
          </a:bodyPr>
          <a:lstStyle/>
          <a:p>
            <a:r>
              <a:rPr lang="en-US" sz="4000" dirty="0">
                <a:solidFill>
                  <a:schemeClr val="bg1"/>
                </a:solidFill>
                <a:latin typeface="Arial Black" panose="020B0A04020102020204" pitchFamily="34" charset="0"/>
              </a:rPr>
              <a:t>THE PROBLEM AND ITS BACKGROUND</a:t>
            </a:r>
            <a:endParaRPr lang="en-PH" sz="4000" dirty="0">
              <a:solidFill>
                <a:schemeClr val="bg1"/>
              </a:solidFill>
              <a:latin typeface="Arial Black" panose="020B0A04020102020204" pitchFamily="34" charset="0"/>
            </a:endParaRPr>
          </a:p>
        </p:txBody>
      </p:sp>
      <p:sp>
        <p:nvSpPr>
          <p:cNvPr id="6" name="Rectangle: Rounded Corners 5">
            <a:extLst>
              <a:ext uri="{FF2B5EF4-FFF2-40B4-BE49-F238E27FC236}">
                <a16:creationId xmlns:a16="http://schemas.microsoft.com/office/drawing/2014/main" id="{090F60FF-FCEB-4315-A6A4-53DA070DC84C}"/>
              </a:ext>
            </a:extLst>
          </p:cNvPr>
          <p:cNvSpPr/>
          <p:nvPr/>
        </p:nvSpPr>
        <p:spPr>
          <a:xfrm>
            <a:off x="412864" y="278099"/>
            <a:ext cx="2663468" cy="253916"/>
          </a:xfrm>
          <a:prstGeom prst="roundRect">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extBox 6">
            <a:extLst>
              <a:ext uri="{FF2B5EF4-FFF2-40B4-BE49-F238E27FC236}">
                <a16:creationId xmlns:a16="http://schemas.microsoft.com/office/drawing/2014/main" id="{414A6C77-3DBF-4AB2-BC7C-92DE23BD43C4}"/>
              </a:ext>
            </a:extLst>
          </p:cNvPr>
          <p:cNvSpPr txBox="1"/>
          <p:nvPr/>
        </p:nvSpPr>
        <p:spPr>
          <a:xfrm>
            <a:off x="769413" y="278099"/>
            <a:ext cx="2863249" cy="253916"/>
          </a:xfrm>
          <a:prstGeom prst="rect">
            <a:avLst/>
          </a:prstGeom>
          <a:noFill/>
        </p:spPr>
        <p:txBody>
          <a:bodyPr wrap="square" rtlCol="0">
            <a:spAutoFit/>
          </a:bodyPr>
          <a:lstStyle/>
          <a:p>
            <a:r>
              <a:rPr lang="en-US" sz="1050" dirty="0"/>
              <a:t>CHAPTER 1 - INTRODUCTION</a:t>
            </a:r>
            <a:endParaRPr lang="en-PH" sz="1050" dirty="0"/>
          </a:p>
        </p:txBody>
      </p:sp>
      <p:sp>
        <p:nvSpPr>
          <p:cNvPr id="8" name="TextBox 7">
            <a:extLst>
              <a:ext uri="{FF2B5EF4-FFF2-40B4-BE49-F238E27FC236}">
                <a16:creationId xmlns:a16="http://schemas.microsoft.com/office/drawing/2014/main" id="{63BF1CBF-8CB1-4B10-9F54-DD6FEED39AD7}"/>
              </a:ext>
            </a:extLst>
          </p:cNvPr>
          <p:cNvSpPr txBox="1"/>
          <p:nvPr/>
        </p:nvSpPr>
        <p:spPr>
          <a:xfrm>
            <a:off x="1469505" y="1776374"/>
            <a:ext cx="4526979" cy="1569660"/>
          </a:xfrm>
          <a:prstGeom prst="rect">
            <a:avLst/>
          </a:prstGeom>
          <a:noFill/>
        </p:spPr>
        <p:txBody>
          <a:bodyPr wrap="square" rtlCol="0">
            <a:spAutoFit/>
          </a:bodyPr>
          <a:lstStyle/>
          <a:p>
            <a:r>
              <a:rPr lang="en-US" sz="1200" dirty="0">
                <a:solidFill>
                  <a:schemeClr val="bg1"/>
                </a:solidFill>
              </a:rPr>
              <a:t>Communities such as barangays, shelters, and orphanages often face serious challenges when disasters like typhoons, fires, or poverty strike. Based on observations and conversations with local leaders, the current process of asking for help is scattered — requests are shared through social media posts, word of mouth, or informal notices. This leads to delays, confusion, and sometimes duplication of aid, making it harder for essential goods and medicines to reach those who need them most. </a:t>
            </a:r>
            <a:endParaRPr lang="en-PH" sz="1200" dirty="0">
              <a:solidFill>
                <a:schemeClr val="bg1"/>
              </a:solidFill>
            </a:endParaRPr>
          </a:p>
        </p:txBody>
      </p:sp>
      <p:grpSp>
        <p:nvGrpSpPr>
          <p:cNvPr id="3" name="Group 2">
            <a:extLst>
              <a:ext uri="{FF2B5EF4-FFF2-40B4-BE49-F238E27FC236}">
                <a16:creationId xmlns:a16="http://schemas.microsoft.com/office/drawing/2014/main" id="{D29F7805-B22C-449B-AEF3-76DC9B5BD4E2}"/>
              </a:ext>
            </a:extLst>
          </p:cNvPr>
          <p:cNvGrpSpPr/>
          <p:nvPr/>
        </p:nvGrpSpPr>
        <p:grpSpPr>
          <a:xfrm>
            <a:off x="1651827" y="3604019"/>
            <a:ext cx="3296920" cy="2385838"/>
            <a:chOff x="0" y="3291544"/>
            <a:chExt cx="3296920" cy="2385838"/>
          </a:xfrm>
        </p:grpSpPr>
        <p:sp>
          <p:nvSpPr>
            <p:cNvPr id="25" name="Arrow: Right 24">
              <a:extLst>
                <a:ext uri="{FF2B5EF4-FFF2-40B4-BE49-F238E27FC236}">
                  <a16:creationId xmlns:a16="http://schemas.microsoft.com/office/drawing/2014/main" id="{7DEA22AB-780F-422D-A167-77CDCBD55EA9}"/>
                </a:ext>
              </a:extLst>
            </p:cNvPr>
            <p:cNvSpPr/>
            <p:nvPr/>
          </p:nvSpPr>
          <p:spPr>
            <a:xfrm>
              <a:off x="0" y="3291544"/>
              <a:ext cx="1625600" cy="481414"/>
            </a:xfrm>
            <a:prstGeom prst="rightArrow">
              <a:avLst/>
            </a:prstGeom>
            <a:solidFill>
              <a:srgbClr val="BC9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Arrow: Right 25">
              <a:extLst>
                <a:ext uri="{FF2B5EF4-FFF2-40B4-BE49-F238E27FC236}">
                  <a16:creationId xmlns:a16="http://schemas.microsoft.com/office/drawing/2014/main" id="{48418292-12D7-4B00-808A-69CF4D1838B3}"/>
                </a:ext>
              </a:extLst>
            </p:cNvPr>
            <p:cNvSpPr/>
            <p:nvPr/>
          </p:nvSpPr>
          <p:spPr>
            <a:xfrm>
              <a:off x="0" y="3776397"/>
              <a:ext cx="2174240" cy="555667"/>
            </a:xfrm>
            <a:prstGeom prst="rightArrow">
              <a:avLst/>
            </a:prstGeom>
            <a:solidFill>
              <a:srgbClr val="8B9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27" name="Arrow: Right 26">
              <a:extLst>
                <a:ext uri="{FF2B5EF4-FFF2-40B4-BE49-F238E27FC236}">
                  <a16:creationId xmlns:a16="http://schemas.microsoft.com/office/drawing/2014/main" id="{9435A677-5C66-43F9-B34D-DB6F62BF63BD}"/>
                </a:ext>
              </a:extLst>
            </p:cNvPr>
            <p:cNvSpPr/>
            <p:nvPr/>
          </p:nvSpPr>
          <p:spPr>
            <a:xfrm>
              <a:off x="0" y="4374342"/>
              <a:ext cx="2692400" cy="612368"/>
            </a:xfrm>
            <a:prstGeom prst="rightArrow">
              <a:avLst/>
            </a:prstGeom>
            <a:solidFill>
              <a:srgbClr val="434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28" name="Arrow: Right 27">
              <a:extLst>
                <a:ext uri="{FF2B5EF4-FFF2-40B4-BE49-F238E27FC236}">
                  <a16:creationId xmlns:a16="http://schemas.microsoft.com/office/drawing/2014/main" id="{813D01AA-2919-489E-B0C0-84231084F579}"/>
                </a:ext>
              </a:extLst>
            </p:cNvPr>
            <p:cNvSpPr/>
            <p:nvPr/>
          </p:nvSpPr>
          <p:spPr>
            <a:xfrm>
              <a:off x="0" y="5028988"/>
              <a:ext cx="3296920" cy="648394"/>
            </a:xfrm>
            <a:prstGeom prst="rightArrow">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grpSp>
      <p:sp>
        <p:nvSpPr>
          <p:cNvPr id="30" name="TextBox 29">
            <a:extLst>
              <a:ext uri="{FF2B5EF4-FFF2-40B4-BE49-F238E27FC236}">
                <a16:creationId xmlns:a16="http://schemas.microsoft.com/office/drawing/2014/main" id="{4230DB3A-725E-4EF9-AC0D-C2252E0488FE}"/>
              </a:ext>
            </a:extLst>
          </p:cNvPr>
          <p:cNvSpPr txBox="1"/>
          <p:nvPr/>
        </p:nvSpPr>
        <p:spPr>
          <a:xfrm>
            <a:off x="6780794" y="2575435"/>
            <a:ext cx="2722880" cy="1015663"/>
          </a:xfrm>
          <a:prstGeom prst="rect">
            <a:avLst/>
          </a:prstGeom>
          <a:noFill/>
        </p:spPr>
        <p:txBody>
          <a:bodyPr wrap="square" rtlCol="0">
            <a:spAutoFit/>
          </a:bodyPr>
          <a:lstStyle/>
          <a:p>
            <a:r>
              <a:rPr lang="en-US" sz="6000" dirty="0">
                <a:solidFill>
                  <a:srgbClr val="BC9876"/>
                </a:solidFill>
                <a:latin typeface="Franklin Gothic Demi Cond" panose="020B0706030402020204" pitchFamily="34" charset="0"/>
              </a:rPr>
              <a:t>C A N</a:t>
            </a:r>
            <a:endParaRPr lang="en-PH" sz="6000" dirty="0">
              <a:solidFill>
                <a:srgbClr val="BC9876"/>
              </a:solidFill>
              <a:latin typeface="Franklin Gothic Demi Cond" panose="020B0706030402020204" pitchFamily="34" charset="0"/>
            </a:endParaRPr>
          </a:p>
        </p:txBody>
      </p:sp>
      <p:cxnSp>
        <p:nvCxnSpPr>
          <p:cNvPr id="32" name="Straight Connector 31">
            <a:extLst>
              <a:ext uri="{FF2B5EF4-FFF2-40B4-BE49-F238E27FC236}">
                <a16:creationId xmlns:a16="http://schemas.microsoft.com/office/drawing/2014/main" id="{6EADBA0D-9569-407E-9267-21641E41E95B}"/>
              </a:ext>
            </a:extLst>
          </p:cNvPr>
          <p:cNvCxnSpPr/>
          <p:nvPr/>
        </p:nvCxnSpPr>
        <p:spPr>
          <a:xfrm>
            <a:off x="6780794" y="3588497"/>
            <a:ext cx="4246880" cy="0"/>
          </a:xfrm>
          <a:prstGeom prst="line">
            <a:avLst/>
          </a:prstGeom>
          <a:ln>
            <a:solidFill>
              <a:srgbClr val="8B9A9F"/>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98119CB-A7AB-45A6-A63F-81773C429355}"/>
              </a:ext>
            </a:extLst>
          </p:cNvPr>
          <p:cNvCxnSpPr>
            <a:cxnSpLocks/>
          </p:cNvCxnSpPr>
          <p:nvPr/>
        </p:nvCxnSpPr>
        <p:spPr>
          <a:xfrm flipV="1">
            <a:off x="6624319" y="2006207"/>
            <a:ext cx="1" cy="736474"/>
          </a:xfrm>
          <a:prstGeom prst="line">
            <a:avLst/>
          </a:prstGeom>
          <a:ln>
            <a:solidFill>
              <a:srgbClr val="8B9A9F"/>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19469C9-DF00-4315-BB23-09E17B9A8897}"/>
              </a:ext>
            </a:extLst>
          </p:cNvPr>
          <p:cNvSpPr txBox="1"/>
          <p:nvPr/>
        </p:nvSpPr>
        <p:spPr>
          <a:xfrm>
            <a:off x="6780793" y="4053760"/>
            <a:ext cx="4554928" cy="1754326"/>
          </a:xfrm>
          <a:prstGeom prst="rect">
            <a:avLst/>
          </a:prstGeom>
          <a:noFill/>
        </p:spPr>
        <p:txBody>
          <a:bodyPr wrap="square" rtlCol="0">
            <a:spAutoFit/>
          </a:bodyPr>
          <a:lstStyle/>
          <a:p>
            <a:r>
              <a:rPr lang="en-US" sz="1200" b="1" dirty="0">
                <a:solidFill>
                  <a:schemeClr val="bg1"/>
                </a:solidFill>
              </a:rPr>
              <a:t>Community Aid Network is a web-based application that serves as a centralized platform for verified community representatives to post their needs and for helpers to find and respond directly</a:t>
            </a:r>
            <a:r>
              <a:rPr lang="en-US" sz="1200" dirty="0">
                <a:solidFill>
                  <a:schemeClr val="bg1"/>
                </a:solidFill>
              </a:rPr>
              <a:t>. Unlike donation systems focused on money, this project emphasizes essential items and medical supplies, ensuring that tangible resources are prioritized. By streamlining communication and improving transparency, the platform aims to strengthen disaster response, support vulnerable groups, and promote a culture of shared responsibility within the community. </a:t>
            </a:r>
            <a:endParaRPr lang="en-PH" sz="1200" dirty="0">
              <a:solidFill>
                <a:schemeClr val="bg1"/>
              </a:solidFill>
            </a:endParaRPr>
          </a:p>
        </p:txBody>
      </p:sp>
      <p:sp>
        <p:nvSpPr>
          <p:cNvPr id="38" name="TextBox 37">
            <a:extLst>
              <a:ext uri="{FF2B5EF4-FFF2-40B4-BE49-F238E27FC236}">
                <a16:creationId xmlns:a16="http://schemas.microsoft.com/office/drawing/2014/main" id="{F0CC0BC4-1424-4F52-A764-EABECD7CF639}"/>
              </a:ext>
            </a:extLst>
          </p:cNvPr>
          <p:cNvSpPr txBox="1"/>
          <p:nvPr/>
        </p:nvSpPr>
        <p:spPr>
          <a:xfrm>
            <a:off x="6780793" y="2391927"/>
            <a:ext cx="3982719" cy="338554"/>
          </a:xfrm>
          <a:prstGeom prst="rect">
            <a:avLst/>
          </a:prstGeom>
          <a:noFill/>
        </p:spPr>
        <p:txBody>
          <a:bodyPr wrap="square" rtlCol="0">
            <a:spAutoFit/>
          </a:bodyPr>
          <a:lstStyle/>
          <a:p>
            <a:r>
              <a:rPr lang="en-US" sz="1600" dirty="0">
                <a:solidFill>
                  <a:schemeClr val="bg1"/>
                </a:solidFill>
                <a:latin typeface="Arial Black" panose="020B0A04020102020204" pitchFamily="34" charset="0"/>
              </a:rPr>
              <a:t>Search it – Click it – Helping Hand</a:t>
            </a:r>
            <a:endParaRPr lang="en-PH" sz="1600" dirty="0">
              <a:solidFill>
                <a:schemeClr val="bg1"/>
              </a:solidFill>
              <a:latin typeface="Arial Black" panose="020B0A04020102020204" pitchFamily="34" charset="0"/>
            </a:endParaRPr>
          </a:p>
        </p:txBody>
      </p:sp>
      <p:sp>
        <p:nvSpPr>
          <p:cNvPr id="31" name="TextBox 30">
            <a:extLst>
              <a:ext uri="{FF2B5EF4-FFF2-40B4-BE49-F238E27FC236}">
                <a16:creationId xmlns:a16="http://schemas.microsoft.com/office/drawing/2014/main" id="{B3834768-62B2-45B8-AE1A-EF2178D44595}"/>
              </a:ext>
            </a:extLst>
          </p:cNvPr>
          <p:cNvSpPr txBox="1"/>
          <p:nvPr/>
        </p:nvSpPr>
        <p:spPr>
          <a:xfrm>
            <a:off x="598516" y="812430"/>
            <a:ext cx="11726452" cy="707886"/>
          </a:xfrm>
          <a:prstGeom prst="rect">
            <a:avLst/>
          </a:prstGeom>
          <a:noFill/>
        </p:spPr>
        <p:txBody>
          <a:bodyPr wrap="square" rtlCol="0">
            <a:spAutoFit/>
          </a:bodyPr>
          <a:lstStyle/>
          <a:p>
            <a:r>
              <a:rPr lang="en-US" sz="4000" dirty="0">
                <a:solidFill>
                  <a:schemeClr val="bg1"/>
                </a:solidFill>
                <a:latin typeface="Arial Black" panose="020B0A04020102020204" pitchFamily="34" charset="0"/>
              </a:rPr>
              <a:t>THE PROBLEM AND ITS BACKGROUND</a:t>
            </a:r>
            <a:endParaRPr lang="en-PH" sz="4000" dirty="0">
              <a:solidFill>
                <a:schemeClr val="bg1"/>
              </a:solidFill>
              <a:latin typeface="Arial Black" panose="020B0A04020102020204" pitchFamily="34" charset="0"/>
            </a:endParaRPr>
          </a:p>
        </p:txBody>
      </p:sp>
      <p:sp>
        <p:nvSpPr>
          <p:cNvPr id="34" name="TextBox 33">
            <a:extLst>
              <a:ext uri="{FF2B5EF4-FFF2-40B4-BE49-F238E27FC236}">
                <a16:creationId xmlns:a16="http://schemas.microsoft.com/office/drawing/2014/main" id="{EE8270AD-E354-44A8-8E10-E35D9D7AE90B}"/>
              </a:ext>
            </a:extLst>
          </p:cNvPr>
          <p:cNvSpPr txBox="1"/>
          <p:nvPr/>
        </p:nvSpPr>
        <p:spPr>
          <a:xfrm>
            <a:off x="6780794" y="2404127"/>
            <a:ext cx="3982719" cy="338554"/>
          </a:xfrm>
          <a:prstGeom prst="rect">
            <a:avLst/>
          </a:prstGeom>
          <a:noFill/>
        </p:spPr>
        <p:txBody>
          <a:bodyPr wrap="square" rtlCol="0">
            <a:spAutoFit/>
          </a:bodyPr>
          <a:lstStyle/>
          <a:p>
            <a:r>
              <a:rPr lang="en-US" sz="1600" dirty="0">
                <a:solidFill>
                  <a:schemeClr val="bg1"/>
                </a:solidFill>
                <a:latin typeface="Arial Black" panose="020B0A04020102020204" pitchFamily="34" charset="0"/>
              </a:rPr>
              <a:t>Search it – Click it – Helping Hand</a:t>
            </a:r>
            <a:endParaRPr lang="en-PH" sz="16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477490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Arrow: Right 24">
            <a:extLst>
              <a:ext uri="{FF2B5EF4-FFF2-40B4-BE49-F238E27FC236}">
                <a16:creationId xmlns:a16="http://schemas.microsoft.com/office/drawing/2014/main" id="{7DEA22AB-780F-422D-A167-77CDCBD55EA9}"/>
              </a:ext>
            </a:extLst>
          </p:cNvPr>
          <p:cNvSpPr/>
          <p:nvPr/>
        </p:nvSpPr>
        <p:spPr>
          <a:xfrm>
            <a:off x="-1" y="-220844"/>
            <a:ext cx="13864839" cy="3568564"/>
          </a:xfrm>
          <a:prstGeom prst="rightArrow">
            <a:avLst/>
          </a:prstGeom>
          <a:solidFill>
            <a:srgbClr val="BC98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6" name="Rectangle: Rounded Corners 5">
            <a:extLst>
              <a:ext uri="{FF2B5EF4-FFF2-40B4-BE49-F238E27FC236}">
                <a16:creationId xmlns:a16="http://schemas.microsoft.com/office/drawing/2014/main" id="{090F60FF-FCEB-4315-A6A4-53DA070DC84C}"/>
              </a:ext>
            </a:extLst>
          </p:cNvPr>
          <p:cNvSpPr/>
          <p:nvPr/>
        </p:nvSpPr>
        <p:spPr>
          <a:xfrm>
            <a:off x="412864" y="278099"/>
            <a:ext cx="2663468" cy="253916"/>
          </a:xfrm>
          <a:prstGeom prst="roundRect">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extBox 6">
            <a:extLst>
              <a:ext uri="{FF2B5EF4-FFF2-40B4-BE49-F238E27FC236}">
                <a16:creationId xmlns:a16="http://schemas.microsoft.com/office/drawing/2014/main" id="{414A6C77-3DBF-4AB2-BC7C-92DE23BD43C4}"/>
              </a:ext>
            </a:extLst>
          </p:cNvPr>
          <p:cNvSpPr txBox="1"/>
          <p:nvPr/>
        </p:nvSpPr>
        <p:spPr>
          <a:xfrm>
            <a:off x="769413" y="278099"/>
            <a:ext cx="2863249" cy="253916"/>
          </a:xfrm>
          <a:prstGeom prst="rect">
            <a:avLst/>
          </a:prstGeom>
          <a:noFill/>
        </p:spPr>
        <p:txBody>
          <a:bodyPr wrap="square" rtlCol="0">
            <a:spAutoFit/>
          </a:bodyPr>
          <a:lstStyle/>
          <a:p>
            <a:r>
              <a:rPr lang="en-US" sz="1050" dirty="0"/>
              <a:t>1.2 – STATEMENT OF THE PROBLEM</a:t>
            </a:r>
            <a:endParaRPr lang="en-PH" sz="1050" dirty="0"/>
          </a:p>
        </p:txBody>
      </p:sp>
      <p:grpSp>
        <p:nvGrpSpPr>
          <p:cNvPr id="24" name="Group 23">
            <a:extLst>
              <a:ext uri="{FF2B5EF4-FFF2-40B4-BE49-F238E27FC236}">
                <a16:creationId xmlns:a16="http://schemas.microsoft.com/office/drawing/2014/main" id="{EF099EC2-559F-40AA-97FA-A3A5FC85A436}"/>
              </a:ext>
            </a:extLst>
          </p:cNvPr>
          <p:cNvGrpSpPr/>
          <p:nvPr/>
        </p:nvGrpSpPr>
        <p:grpSpPr>
          <a:xfrm>
            <a:off x="2629047" y="-3055949"/>
            <a:ext cx="2007230" cy="1796230"/>
            <a:chOff x="598516" y="4181298"/>
            <a:chExt cx="1826963" cy="1655236"/>
          </a:xfrm>
        </p:grpSpPr>
        <p:pic>
          <p:nvPicPr>
            <p:cNvPr id="21" name="Picture 20">
              <a:extLst>
                <a:ext uri="{FF2B5EF4-FFF2-40B4-BE49-F238E27FC236}">
                  <a16:creationId xmlns:a16="http://schemas.microsoft.com/office/drawing/2014/main" id="{3A805019-539B-4D2F-988D-79A2106CDC0B}"/>
                </a:ext>
              </a:extLst>
            </p:cNvPr>
            <p:cNvPicPr>
              <a:picLocks noChangeAspect="1"/>
            </p:cNvPicPr>
            <p:nvPr/>
          </p:nvPicPr>
          <p:blipFill>
            <a:blip r:embed="rId2">
              <a:extLst>
                <a:ext uri="{28A0092B-C50C-407E-A947-70E740481C1C}">
                  <a14:useLocalDpi xmlns:a14="http://schemas.microsoft.com/office/drawing/2010/main" val="0"/>
                </a:ext>
              </a:extLst>
            </a:blip>
            <a:srcRect t="34880" r="45673"/>
            <a:stretch>
              <a:fillRect/>
            </a:stretch>
          </p:blipFill>
          <p:spPr>
            <a:xfrm>
              <a:off x="598516" y="4659074"/>
              <a:ext cx="948821" cy="757184"/>
            </a:xfrm>
            <a:custGeom>
              <a:avLst/>
              <a:gdLst>
                <a:gd name="connsiteX0" fmla="*/ 198259 w 948821"/>
                <a:gd name="connsiteY0" fmla="*/ 0 h 757184"/>
                <a:gd name="connsiteX1" fmla="*/ 750563 w 948821"/>
                <a:gd name="connsiteY1" fmla="*/ 0 h 757184"/>
                <a:gd name="connsiteX2" fmla="*/ 948821 w 948821"/>
                <a:gd name="connsiteY2" fmla="*/ 396517 h 757184"/>
                <a:gd name="connsiteX3" fmla="*/ 768488 w 948821"/>
                <a:gd name="connsiteY3" fmla="*/ 757184 h 757184"/>
                <a:gd name="connsiteX4" fmla="*/ 180334 w 948821"/>
                <a:gd name="connsiteY4" fmla="*/ 757184 h 757184"/>
                <a:gd name="connsiteX5" fmla="*/ 0 w 948821"/>
                <a:gd name="connsiteY5" fmla="*/ 396517 h 75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8821" h="757184">
                  <a:moveTo>
                    <a:pt x="198259" y="0"/>
                  </a:moveTo>
                  <a:lnTo>
                    <a:pt x="750563" y="0"/>
                  </a:lnTo>
                  <a:lnTo>
                    <a:pt x="948821" y="396517"/>
                  </a:lnTo>
                  <a:lnTo>
                    <a:pt x="768488" y="757184"/>
                  </a:lnTo>
                  <a:lnTo>
                    <a:pt x="180334" y="757184"/>
                  </a:lnTo>
                  <a:lnTo>
                    <a:pt x="0" y="396517"/>
                  </a:lnTo>
                  <a:close/>
                </a:path>
              </a:pathLst>
            </a:custGeom>
          </p:spPr>
        </p:pic>
        <p:pic>
          <p:nvPicPr>
            <p:cNvPr id="22" name="Picture 21">
              <a:extLst>
                <a:ext uri="{FF2B5EF4-FFF2-40B4-BE49-F238E27FC236}">
                  <a16:creationId xmlns:a16="http://schemas.microsoft.com/office/drawing/2014/main" id="{3AD3E60A-912F-4B18-B5A1-7C6AB0A91572}"/>
                </a:ext>
              </a:extLst>
            </p:cNvPr>
            <p:cNvPicPr>
              <a:picLocks noChangeAspect="1"/>
            </p:cNvPicPr>
            <p:nvPr/>
          </p:nvPicPr>
          <p:blipFill>
            <a:blip r:embed="rId3">
              <a:extLst>
                <a:ext uri="{28A0092B-C50C-407E-A947-70E740481C1C}">
                  <a14:useLocalDpi xmlns:a14="http://schemas.microsoft.com/office/drawing/2010/main" val="0"/>
                </a:ext>
              </a:extLst>
            </a:blip>
            <a:srcRect l="7812" t="5880" r="20401"/>
            <a:stretch>
              <a:fillRect/>
            </a:stretch>
          </p:blipFill>
          <p:spPr>
            <a:xfrm>
              <a:off x="1476658" y="4181298"/>
              <a:ext cx="948821" cy="746407"/>
            </a:xfrm>
            <a:custGeom>
              <a:avLst/>
              <a:gdLst>
                <a:gd name="connsiteX0" fmla="*/ 198259 w 948821"/>
                <a:gd name="connsiteY0" fmla="*/ 0 h 746407"/>
                <a:gd name="connsiteX1" fmla="*/ 750563 w 948821"/>
                <a:gd name="connsiteY1" fmla="*/ 0 h 746407"/>
                <a:gd name="connsiteX2" fmla="*/ 948821 w 948821"/>
                <a:gd name="connsiteY2" fmla="*/ 396517 h 746407"/>
                <a:gd name="connsiteX3" fmla="*/ 773877 w 948821"/>
                <a:gd name="connsiteY3" fmla="*/ 746407 h 746407"/>
                <a:gd name="connsiteX4" fmla="*/ 174946 w 948821"/>
                <a:gd name="connsiteY4" fmla="*/ 746407 h 746407"/>
                <a:gd name="connsiteX5" fmla="*/ 0 w 948821"/>
                <a:gd name="connsiteY5" fmla="*/ 396517 h 746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8821" h="746407">
                  <a:moveTo>
                    <a:pt x="198259" y="0"/>
                  </a:moveTo>
                  <a:lnTo>
                    <a:pt x="750563" y="0"/>
                  </a:lnTo>
                  <a:lnTo>
                    <a:pt x="948821" y="396517"/>
                  </a:lnTo>
                  <a:lnTo>
                    <a:pt x="773877" y="746407"/>
                  </a:lnTo>
                  <a:lnTo>
                    <a:pt x="174946" y="746407"/>
                  </a:lnTo>
                  <a:lnTo>
                    <a:pt x="0" y="396517"/>
                  </a:lnTo>
                  <a:close/>
                </a:path>
              </a:pathLst>
            </a:custGeom>
          </p:spPr>
        </p:pic>
        <p:pic>
          <p:nvPicPr>
            <p:cNvPr id="23" name="Picture 22">
              <a:extLst>
                <a:ext uri="{FF2B5EF4-FFF2-40B4-BE49-F238E27FC236}">
                  <a16:creationId xmlns:a16="http://schemas.microsoft.com/office/drawing/2014/main" id="{F94664D8-15CF-48DE-864C-F633D5362D1A}"/>
                </a:ext>
              </a:extLst>
            </p:cNvPr>
            <p:cNvPicPr>
              <a:picLocks noChangeAspect="1"/>
            </p:cNvPicPr>
            <p:nvPr/>
          </p:nvPicPr>
          <p:blipFill>
            <a:blip r:embed="rId4">
              <a:extLst>
                <a:ext uri="{28A0092B-C50C-407E-A947-70E740481C1C}">
                  <a14:useLocalDpi xmlns:a14="http://schemas.microsoft.com/office/drawing/2010/main" val="0"/>
                </a:ext>
              </a:extLst>
            </a:blip>
            <a:srcRect l="6358" t="21227" r="27672"/>
            <a:stretch>
              <a:fillRect/>
            </a:stretch>
          </p:blipFill>
          <p:spPr>
            <a:xfrm>
              <a:off x="1476658" y="5081234"/>
              <a:ext cx="948821" cy="755300"/>
            </a:xfrm>
            <a:custGeom>
              <a:avLst/>
              <a:gdLst>
                <a:gd name="connsiteX0" fmla="*/ 198259 w 948821"/>
                <a:gd name="connsiteY0" fmla="*/ 0 h 755300"/>
                <a:gd name="connsiteX1" fmla="*/ 750563 w 948821"/>
                <a:gd name="connsiteY1" fmla="*/ 0 h 755300"/>
                <a:gd name="connsiteX2" fmla="*/ 948821 w 948821"/>
                <a:gd name="connsiteY2" fmla="*/ 396517 h 755300"/>
                <a:gd name="connsiteX3" fmla="*/ 769430 w 948821"/>
                <a:gd name="connsiteY3" fmla="*/ 755300 h 755300"/>
                <a:gd name="connsiteX4" fmla="*/ 179392 w 948821"/>
                <a:gd name="connsiteY4" fmla="*/ 755300 h 755300"/>
                <a:gd name="connsiteX5" fmla="*/ 0 w 948821"/>
                <a:gd name="connsiteY5" fmla="*/ 396517 h 75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8821" h="755300">
                  <a:moveTo>
                    <a:pt x="198259" y="0"/>
                  </a:moveTo>
                  <a:lnTo>
                    <a:pt x="750563" y="0"/>
                  </a:lnTo>
                  <a:lnTo>
                    <a:pt x="948821" y="396517"/>
                  </a:lnTo>
                  <a:lnTo>
                    <a:pt x="769430" y="755300"/>
                  </a:lnTo>
                  <a:lnTo>
                    <a:pt x="179392" y="755300"/>
                  </a:lnTo>
                  <a:lnTo>
                    <a:pt x="0" y="396517"/>
                  </a:lnTo>
                  <a:close/>
                </a:path>
              </a:pathLst>
            </a:custGeom>
          </p:spPr>
        </p:pic>
      </p:grpSp>
      <p:sp>
        <p:nvSpPr>
          <p:cNvPr id="26" name="Arrow: Right 25">
            <a:extLst>
              <a:ext uri="{FF2B5EF4-FFF2-40B4-BE49-F238E27FC236}">
                <a16:creationId xmlns:a16="http://schemas.microsoft.com/office/drawing/2014/main" id="{48418292-12D7-4B00-808A-69CF4D1838B3}"/>
              </a:ext>
            </a:extLst>
          </p:cNvPr>
          <p:cNvSpPr/>
          <p:nvPr/>
        </p:nvSpPr>
        <p:spPr>
          <a:xfrm>
            <a:off x="0" y="905291"/>
            <a:ext cx="13939276" cy="3436194"/>
          </a:xfrm>
          <a:prstGeom prst="rightArrow">
            <a:avLst/>
          </a:prstGeom>
          <a:solidFill>
            <a:srgbClr val="8B9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27" name="Arrow: Right 26">
            <a:extLst>
              <a:ext uri="{FF2B5EF4-FFF2-40B4-BE49-F238E27FC236}">
                <a16:creationId xmlns:a16="http://schemas.microsoft.com/office/drawing/2014/main" id="{9435A677-5C66-43F9-B34D-DB6F62BF63BD}"/>
              </a:ext>
            </a:extLst>
          </p:cNvPr>
          <p:cNvSpPr/>
          <p:nvPr/>
        </p:nvSpPr>
        <p:spPr>
          <a:xfrm>
            <a:off x="0" y="2244909"/>
            <a:ext cx="14651665" cy="2938787"/>
          </a:xfrm>
          <a:prstGeom prst="rightArrow">
            <a:avLst/>
          </a:prstGeom>
          <a:solidFill>
            <a:srgbClr val="434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28" name="Arrow: Right 27">
            <a:extLst>
              <a:ext uri="{FF2B5EF4-FFF2-40B4-BE49-F238E27FC236}">
                <a16:creationId xmlns:a16="http://schemas.microsoft.com/office/drawing/2014/main" id="{813D01AA-2919-489E-B0C0-84231084F579}"/>
              </a:ext>
            </a:extLst>
          </p:cNvPr>
          <p:cNvSpPr/>
          <p:nvPr/>
        </p:nvSpPr>
        <p:spPr>
          <a:xfrm>
            <a:off x="-1" y="3665051"/>
            <a:ext cx="13588397" cy="2721147"/>
          </a:xfrm>
          <a:prstGeom prst="rightArrow">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30" name="TextBox 29">
            <a:extLst>
              <a:ext uri="{FF2B5EF4-FFF2-40B4-BE49-F238E27FC236}">
                <a16:creationId xmlns:a16="http://schemas.microsoft.com/office/drawing/2014/main" id="{4230DB3A-725E-4EF9-AC0D-C2252E0488FE}"/>
              </a:ext>
            </a:extLst>
          </p:cNvPr>
          <p:cNvSpPr txBox="1"/>
          <p:nvPr/>
        </p:nvSpPr>
        <p:spPr>
          <a:xfrm>
            <a:off x="12835773" y="2413337"/>
            <a:ext cx="2722880" cy="1015663"/>
          </a:xfrm>
          <a:prstGeom prst="rect">
            <a:avLst/>
          </a:prstGeom>
          <a:noFill/>
        </p:spPr>
        <p:txBody>
          <a:bodyPr wrap="square" rtlCol="0">
            <a:spAutoFit/>
          </a:bodyPr>
          <a:lstStyle/>
          <a:p>
            <a:r>
              <a:rPr lang="en-US" sz="6000" dirty="0">
                <a:solidFill>
                  <a:srgbClr val="BC9876"/>
                </a:solidFill>
                <a:latin typeface="Franklin Gothic Demi Cond" panose="020B0706030402020204" pitchFamily="34" charset="0"/>
              </a:rPr>
              <a:t>C A N</a:t>
            </a:r>
            <a:endParaRPr lang="en-PH" sz="6000" dirty="0">
              <a:solidFill>
                <a:srgbClr val="BC9876"/>
              </a:solidFill>
              <a:latin typeface="Franklin Gothic Demi Cond" panose="020B0706030402020204" pitchFamily="34" charset="0"/>
            </a:endParaRPr>
          </a:p>
        </p:txBody>
      </p:sp>
      <p:cxnSp>
        <p:nvCxnSpPr>
          <p:cNvPr id="32" name="Straight Connector 31">
            <a:extLst>
              <a:ext uri="{FF2B5EF4-FFF2-40B4-BE49-F238E27FC236}">
                <a16:creationId xmlns:a16="http://schemas.microsoft.com/office/drawing/2014/main" id="{6EADBA0D-9569-407E-9267-21641E41E95B}"/>
              </a:ext>
            </a:extLst>
          </p:cNvPr>
          <p:cNvCxnSpPr/>
          <p:nvPr/>
        </p:nvCxnSpPr>
        <p:spPr>
          <a:xfrm>
            <a:off x="13326736" y="3506691"/>
            <a:ext cx="4246880" cy="0"/>
          </a:xfrm>
          <a:prstGeom prst="line">
            <a:avLst/>
          </a:prstGeom>
          <a:ln>
            <a:solidFill>
              <a:srgbClr val="8B9A9F"/>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98119CB-A7AB-45A6-A63F-81773C429355}"/>
              </a:ext>
            </a:extLst>
          </p:cNvPr>
          <p:cNvCxnSpPr>
            <a:cxnSpLocks/>
          </p:cNvCxnSpPr>
          <p:nvPr/>
        </p:nvCxnSpPr>
        <p:spPr>
          <a:xfrm flipV="1">
            <a:off x="6551748" y="7869978"/>
            <a:ext cx="1" cy="736474"/>
          </a:xfrm>
          <a:prstGeom prst="line">
            <a:avLst/>
          </a:prstGeom>
          <a:ln>
            <a:solidFill>
              <a:srgbClr val="8B9A9F"/>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19469C9-DF00-4315-BB23-09E17B9A8897}"/>
              </a:ext>
            </a:extLst>
          </p:cNvPr>
          <p:cNvSpPr txBox="1"/>
          <p:nvPr/>
        </p:nvSpPr>
        <p:spPr>
          <a:xfrm>
            <a:off x="6883565" y="7267715"/>
            <a:ext cx="4399280" cy="2246769"/>
          </a:xfrm>
          <a:prstGeom prst="rect">
            <a:avLst/>
          </a:prstGeom>
          <a:noFill/>
        </p:spPr>
        <p:txBody>
          <a:bodyPr wrap="square" rtlCol="0">
            <a:spAutoFit/>
          </a:bodyPr>
          <a:lstStyle/>
          <a:p>
            <a:r>
              <a:rPr lang="en-US" sz="1400" b="1" dirty="0">
                <a:solidFill>
                  <a:schemeClr val="bg1"/>
                </a:solidFill>
              </a:rPr>
              <a:t>Community Aid Network is a web-based application that serves as a centralized platform for verified community representatives to post their needs and for helpers to find and respond directly</a:t>
            </a:r>
            <a:r>
              <a:rPr lang="en-US" sz="1400" dirty="0">
                <a:solidFill>
                  <a:schemeClr val="bg1"/>
                </a:solidFill>
              </a:rPr>
              <a:t>. Unlike donation systems focused on money, this project emphasizes essential items and medical supplies, ensuring that tangible resources are prioritized. By streamlining communication and improving transparency, the platform aims to strengthen disaster response, support vulnerable groups, and promote a culture of shared responsibility within the community. </a:t>
            </a:r>
            <a:endParaRPr lang="en-PH" sz="1400" dirty="0">
              <a:solidFill>
                <a:schemeClr val="bg1"/>
              </a:solidFill>
            </a:endParaRPr>
          </a:p>
        </p:txBody>
      </p:sp>
      <p:sp>
        <p:nvSpPr>
          <p:cNvPr id="29" name="Arrow: Right 28">
            <a:extLst>
              <a:ext uri="{FF2B5EF4-FFF2-40B4-BE49-F238E27FC236}">
                <a16:creationId xmlns:a16="http://schemas.microsoft.com/office/drawing/2014/main" id="{0F97545D-9686-4B42-9F9E-4EB857F3EC86}"/>
              </a:ext>
            </a:extLst>
          </p:cNvPr>
          <p:cNvSpPr/>
          <p:nvPr/>
        </p:nvSpPr>
        <p:spPr>
          <a:xfrm>
            <a:off x="0" y="5025625"/>
            <a:ext cx="15130123" cy="2456948"/>
          </a:xfrm>
          <a:prstGeom prst="rightArrow">
            <a:avLst/>
          </a:prstGeom>
          <a:solidFill>
            <a:srgbClr val="1417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dirty="0"/>
          </a:p>
        </p:txBody>
      </p:sp>
      <p:sp>
        <p:nvSpPr>
          <p:cNvPr id="3" name="TextBox 2">
            <a:extLst>
              <a:ext uri="{FF2B5EF4-FFF2-40B4-BE49-F238E27FC236}">
                <a16:creationId xmlns:a16="http://schemas.microsoft.com/office/drawing/2014/main" id="{D066DF8A-7FC7-4A89-ABCD-7FB8440C7D2A}"/>
              </a:ext>
            </a:extLst>
          </p:cNvPr>
          <p:cNvSpPr txBox="1"/>
          <p:nvPr/>
        </p:nvSpPr>
        <p:spPr>
          <a:xfrm>
            <a:off x="4869711" y="1042407"/>
            <a:ext cx="2849526" cy="369332"/>
          </a:xfrm>
          <a:prstGeom prst="rect">
            <a:avLst/>
          </a:prstGeom>
          <a:noFill/>
        </p:spPr>
        <p:txBody>
          <a:bodyPr wrap="square" rtlCol="0">
            <a:spAutoFit/>
          </a:bodyPr>
          <a:lstStyle/>
          <a:p>
            <a:r>
              <a:rPr lang="en-US" b="1" dirty="0">
                <a:solidFill>
                  <a:schemeClr val="bg1"/>
                </a:solidFill>
              </a:rPr>
              <a:t>UNORGANIZED REQUESTS </a:t>
            </a:r>
            <a:endParaRPr lang="en-PH" b="1" dirty="0">
              <a:solidFill>
                <a:schemeClr val="bg1"/>
              </a:solidFill>
            </a:endParaRPr>
          </a:p>
        </p:txBody>
      </p:sp>
      <p:sp>
        <p:nvSpPr>
          <p:cNvPr id="34" name="TextBox 33">
            <a:extLst>
              <a:ext uri="{FF2B5EF4-FFF2-40B4-BE49-F238E27FC236}">
                <a16:creationId xmlns:a16="http://schemas.microsoft.com/office/drawing/2014/main" id="{FC6FD6F9-3B51-4CFC-8CCE-17F31CC42204}"/>
              </a:ext>
            </a:extLst>
          </p:cNvPr>
          <p:cNvSpPr txBox="1"/>
          <p:nvPr/>
        </p:nvSpPr>
        <p:spPr>
          <a:xfrm>
            <a:off x="4513520" y="2212500"/>
            <a:ext cx="3561908" cy="369332"/>
          </a:xfrm>
          <a:prstGeom prst="rect">
            <a:avLst/>
          </a:prstGeom>
          <a:noFill/>
        </p:spPr>
        <p:txBody>
          <a:bodyPr wrap="square" rtlCol="0">
            <a:spAutoFit/>
          </a:bodyPr>
          <a:lstStyle/>
          <a:p>
            <a:r>
              <a:rPr lang="en-US" b="1" dirty="0">
                <a:solidFill>
                  <a:schemeClr val="bg1"/>
                </a:solidFill>
              </a:rPr>
              <a:t>COMMUNITY SEARCH DIFFICULTY</a:t>
            </a:r>
            <a:endParaRPr lang="en-PH" b="1" dirty="0">
              <a:solidFill>
                <a:schemeClr val="bg1"/>
              </a:solidFill>
            </a:endParaRPr>
          </a:p>
        </p:txBody>
      </p:sp>
      <p:sp>
        <p:nvSpPr>
          <p:cNvPr id="35" name="TextBox 34">
            <a:extLst>
              <a:ext uri="{FF2B5EF4-FFF2-40B4-BE49-F238E27FC236}">
                <a16:creationId xmlns:a16="http://schemas.microsoft.com/office/drawing/2014/main" id="{E050CE92-DC12-42A4-BAD7-C76B1827B459}"/>
              </a:ext>
            </a:extLst>
          </p:cNvPr>
          <p:cNvSpPr txBox="1"/>
          <p:nvPr/>
        </p:nvSpPr>
        <p:spPr>
          <a:xfrm>
            <a:off x="4513520" y="3484746"/>
            <a:ext cx="3561908" cy="369332"/>
          </a:xfrm>
          <a:prstGeom prst="rect">
            <a:avLst/>
          </a:prstGeom>
          <a:noFill/>
        </p:spPr>
        <p:txBody>
          <a:bodyPr wrap="square" rtlCol="0">
            <a:spAutoFit/>
          </a:bodyPr>
          <a:lstStyle/>
          <a:p>
            <a:r>
              <a:rPr lang="en-US" b="1" dirty="0">
                <a:solidFill>
                  <a:schemeClr val="bg1"/>
                </a:solidFill>
              </a:rPr>
              <a:t>LACK OF DIRECT COMMUNICATION</a:t>
            </a:r>
            <a:endParaRPr lang="en-PH" b="1" dirty="0">
              <a:solidFill>
                <a:schemeClr val="bg1"/>
              </a:solidFill>
            </a:endParaRPr>
          </a:p>
        </p:txBody>
      </p:sp>
      <p:sp>
        <p:nvSpPr>
          <p:cNvPr id="36" name="TextBox 35">
            <a:extLst>
              <a:ext uri="{FF2B5EF4-FFF2-40B4-BE49-F238E27FC236}">
                <a16:creationId xmlns:a16="http://schemas.microsoft.com/office/drawing/2014/main" id="{9857B8A5-7576-4F63-88DA-511339100EB2}"/>
              </a:ext>
            </a:extLst>
          </p:cNvPr>
          <p:cNvSpPr txBox="1"/>
          <p:nvPr/>
        </p:nvSpPr>
        <p:spPr>
          <a:xfrm>
            <a:off x="4933506" y="4790365"/>
            <a:ext cx="3561908" cy="369332"/>
          </a:xfrm>
          <a:prstGeom prst="rect">
            <a:avLst/>
          </a:prstGeom>
          <a:noFill/>
        </p:spPr>
        <p:txBody>
          <a:bodyPr wrap="square" rtlCol="0">
            <a:spAutoFit/>
          </a:bodyPr>
          <a:lstStyle/>
          <a:p>
            <a:r>
              <a:rPr lang="en-US" b="1" dirty="0">
                <a:solidFill>
                  <a:schemeClr val="bg1"/>
                </a:solidFill>
              </a:rPr>
              <a:t>LIMITED TRANSPARENCY</a:t>
            </a:r>
            <a:endParaRPr lang="en-PH" b="1" dirty="0">
              <a:solidFill>
                <a:schemeClr val="bg1"/>
              </a:solidFill>
            </a:endParaRPr>
          </a:p>
        </p:txBody>
      </p:sp>
      <p:sp>
        <p:nvSpPr>
          <p:cNvPr id="39" name="TextBox 38">
            <a:extLst>
              <a:ext uri="{FF2B5EF4-FFF2-40B4-BE49-F238E27FC236}">
                <a16:creationId xmlns:a16="http://schemas.microsoft.com/office/drawing/2014/main" id="{045C028D-64DB-4724-B618-ACA7F258DCC6}"/>
              </a:ext>
            </a:extLst>
          </p:cNvPr>
          <p:cNvSpPr txBox="1"/>
          <p:nvPr/>
        </p:nvSpPr>
        <p:spPr>
          <a:xfrm>
            <a:off x="4770794" y="6016866"/>
            <a:ext cx="3561908" cy="369332"/>
          </a:xfrm>
          <a:prstGeom prst="rect">
            <a:avLst/>
          </a:prstGeom>
          <a:noFill/>
        </p:spPr>
        <p:txBody>
          <a:bodyPr wrap="square" rtlCol="0">
            <a:spAutoFit/>
          </a:bodyPr>
          <a:lstStyle/>
          <a:p>
            <a:r>
              <a:rPr lang="en-US" b="1" dirty="0">
                <a:solidFill>
                  <a:schemeClr val="bg1"/>
                </a:solidFill>
              </a:rPr>
              <a:t>ACCESIBILITY CONSTRAINTS</a:t>
            </a:r>
            <a:endParaRPr lang="en-PH" b="1" dirty="0">
              <a:solidFill>
                <a:schemeClr val="bg1"/>
              </a:solidFill>
            </a:endParaRPr>
          </a:p>
        </p:txBody>
      </p:sp>
      <p:sp>
        <p:nvSpPr>
          <p:cNvPr id="40" name="TextBox 39">
            <a:extLst>
              <a:ext uri="{FF2B5EF4-FFF2-40B4-BE49-F238E27FC236}">
                <a16:creationId xmlns:a16="http://schemas.microsoft.com/office/drawing/2014/main" id="{93250AF7-8514-4AAB-AE99-26B75418477B}"/>
              </a:ext>
            </a:extLst>
          </p:cNvPr>
          <p:cNvSpPr txBox="1"/>
          <p:nvPr/>
        </p:nvSpPr>
        <p:spPr>
          <a:xfrm>
            <a:off x="374606" y="928769"/>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Aid requests are currently spread across social media, word of mouth, or informal notices, leading to confusion and delays.</a:t>
            </a:r>
          </a:p>
        </p:txBody>
      </p:sp>
      <p:sp>
        <p:nvSpPr>
          <p:cNvPr id="41" name="TextBox 40">
            <a:extLst>
              <a:ext uri="{FF2B5EF4-FFF2-40B4-BE49-F238E27FC236}">
                <a16:creationId xmlns:a16="http://schemas.microsoft.com/office/drawing/2014/main" id="{28F83C75-5535-429E-B18D-E6A8CC100C59}"/>
              </a:ext>
            </a:extLst>
          </p:cNvPr>
          <p:cNvSpPr txBox="1"/>
          <p:nvPr/>
        </p:nvSpPr>
        <p:spPr>
          <a:xfrm>
            <a:off x="8220845" y="896775"/>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A centralized posting system where verified community representatives can submit structured requests for essentials.</a:t>
            </a:r>
          </a:p>
        </p:txBody>
      </p:sp>
      <p:sp>
        <p:nvSpPr>
          <p:cNvPr id="42" name="TextBox 41">
            <a:extLst>
              <a:ext uri="{FF2B5EF4-FFF2-40B4-BE49-F238E27FC236}">
                <a16:creationId xmlns:a16="http://schemas.microsoft.com/office/drawing/2014/main" id="{D8892D53-B188-41EA-B703-87C56FD63BED}"/>
              </a:ext>
            </a:extLst>
          </p:cNvPr>
          <p:cNvSpPr txBox="1"/>
          <p:nvPr/>
        </p:nvSpPr>
        <p:spPr>
          <a:xfrm>
            <a:off x="430330" y="2158869"/>
            <a:ext cx="3652861" cy="461665"/>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Donors and volunteers cannot easily identify which communities require urgent help.</a:t>
            </a:r>
          </a:p>
        </p:txBody>
      </p:sp>
      <p:sp>
        <p:nvSpPr>
          <p:cNvPr id="43" name="TextBox 42">
            <a:extLst>
              <a:ext uri="{FF2B5EF4-FFF2-40B4-BE49-F238E27FC236}">
                <a16:creationId xmlns:a16="http://schemas.microsoft.com/office/drawing/2014/main" id="{49AE61A7-B1D5-4433-A4C8-24ADFF42059D}"/>
              </a:ext>
            </a:extLst>
          </p:cNvPr>
          <p:cNvSpPr txBox="1"/>
          <p:nvPr/>
        </p:nvSpPr>
        <p:spPr>
          <a:xfrm>
            <a:off x="8220844" y="1991986"/>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A searchable database with filters (location, type of need, urgency) to help helpers quickly find communities to support.</a:t>
            </a:r>
          </a:p>
        </p:txBody>
      </p:sp>
      <p:sp>
        <p:nvSpPr>
          <p:cNvPr id="44" name="TextBox 43">
            <a:extLst>
              <a:ext uri="{FF2B5EF4-FFF2-40B4-BE49-F238E27FC236}">
                <a16:creationId xmlns:a16="http://schemas.microsoft.com/office/drawing/2014/main" id="{F376F540-E52F-4AC7-8FE4-2790B86C5875}"/>
              </a:ext>
            </a:extLst>
          </p:cNvPr>
          <p:cNvSpPr txBox="1"/>
          <p:nvPr/>
        </p:nvSpPr>
        <p:spPr>
          <a:xfrm>
            <a:off x="430330" y="3384998"/>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Helpers often have no reliable way to coordinate with community leaders, causing miscommunication or duplication of aid.</a:t>
            </a:r>
          </a:p>
        </p:txBody>
      </p:sp>
      <p:sp>
        <p:nvSpPr>
          <p:cNvPr id="45" name="TextBox 44">
            <a:extLst>
              <a:ext uri="{FF2B5EF4-FFF2-40B4-BE49-F238E27FC236}">
                <a16:creationId xmlns:a16="http://schemas.microsoft.com/office/drawing/2014/main" id="{38B72698-6E42-4D1A-97E6-BDB50917E652}"/>
              </a:ext>
            </a:extLst>
          </p:cNvPr>
          <p:cNvSpPr txBox="1"/>
          <p:nvPr/>
        </p:nvSpPr>
        <p:spPr>
          <a:xfrm>
            <a:off x="8213734" y="3378955"/>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A secure messaging system that connects helpers directly with barangay officials or community representatives.</a:t>
            </a:r>
          </a:p>
        </p:txBody>
      </p:sp>
      <p:sp>
        <p:nvSpPr>
          <p:cNvPr id="46" name="TextBox 45">
            <a:extLst>
              <a:ext uri="{FF2B5EF4-FFF2-40B4-BE49-F238E27FC236}">
                <a16:creationId xmlns:a16="http://schemas.microsoft.com/office/drawing/2014/main" id="{9850716F-D243-4368-AC33-B45E0EA931A8}"/>
              </a:ext>
            </a:extLst>
          </p:cNvPr>
          <p:cNvSpPr txBox="1"/>
          <p:nvPr/>
        </p:nvSpPr>
        <p:spPr>
          <a:xfrm>
            <a:off x="463086" y="4712680"/>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Donors may not know if their contributions reached the intended recipients, reducing trust and willingness to help.</a:t>
            </a:r>
          </a:p>
        </p:txBody>
      </p:sp>
      <p:sp>
        <p:nvSpPr>
          <p:cNvPr id="47" name="TextBox 46">
            <a:extLst>
              <a:ext uri="{FF2B5EF4-FFF2-40B4-BE49-F238E27FC236}">
                <a16:creationId xmlns:a16="http://schemas.microsoft.com/office/drawing/2014/main" id="{0FCB789A-AB51-41FF-864E-1EBF945A4DA5}"/>
              </a:ext>
            </a:extLst>
          </p:cNvPr>
          <p:cNvSpPr txBox="1"/>
          <p:nvPr/>
        </p:nvSpPr>
        <p:spPr>
          <a:xfrm>
            <a:off x="462195" y="4715469"/>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Donors may not know if their contributions reached the intended recipients, reducing trust and willingness to help.</a:t>
            </a:r>
          </a:p>
        </p:txBody>
      </p:sp>
      <p:sp>
        <p:nvSpPr>
          <p:cNvPr id="48" name="TextBox 47">
            <a:extLst>
              <a:ext uri="{FF2B5EF4-FFF2-40B4-BE49-F238E27FC236}">
                <a16:creationId xmlns:a16="http://schemas.microsoft.com/office/drawing/2014/main" id="{33622C99-A1D1-422A-B4B6-C8A020025F82}"/>
              </a:ext>
            </a:extLst>
          </p:cNvPr>
          <p:cNvSpPr txBox="1"/>
          <p:nvPr/>
        </p:nvSpPr>
        <p:spPr>
          <a:xfrm>
            <a:off x="8173684" y="4681398"/>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A request tracking and update mechanism where communities can mark fulfilled needs and provide progress updates.</a:t>
            </a:r>
          </a:p>
        </p:txBody>
      </p:sp>
      <p:sp>
        <p:nvSpPr>
          <p:cNvPr id="49" name="TextBox 48">
            <a:extLst>
              <a:ext uri="{FF2B5EF4-FFF2-40B4-BE49-F238E27FC236}">
                <a16:creationId xmlns:a16="http://schemas.microsoft.com/office/drawing/2014/main" id="{1728112F-5EEE-484B-B974-C6B7129B0E74}"/>
              </a:ext>
            </a:extLst>
          </p:cNvPr>
          <p:cNvSpPr txBox="1"/>
          <p:nvPr/>
        </p:nvSpPr>
        <p:spPr>
          <a:xfrm>
            <a:off x="474160" y="6002264"/>
            <a:ext cx="3652861" cy="461665"/>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Communities in remote areas with poor internet access may face challenges in using the system.</a:t>
            </a:r>
          </a:p>
        </p:txBody>
      </p:sp>
      <p:sp>
        <p:nvSpPr>
          <p:cNvPr id="50" name="TextBox 49">
            <a:extLst>
              <a:ext uri="{FF2B5EF4-FFF2-40B4-BE49-F238E27FC236}">
                <a16:creationId xmlns:a16="http://schemas.microsoft.com/office/drawing/2014/main" id="{B3D544A2-A86F-4BCD-BFE1-A304C2A13FF3}"/>
              </a:ext>
            </a:extLst>
          </p:cNvPr>
          <p:cNvSpPr txBox="1"/>
          <p:nvPr/>
        </p:nvSpPr>
        <p:spPr>
          <a:xfrm>
            <a:off x="8213733" y="5898226"/>
            <a:ext cx="3652861" cy="646331"/>
          </a:xfrm>
          <a:prstGeom prst="rect">
            <a:avLst/>
          </a:prstGeom>
          <a:noFill/>
        </p:spPr>
        <p:txBody>
          <a:bodyPr wrap="square" rtlCol="0">
            <a:spAutoFit/>
          </a:bodyPr>
          <a:lstStyle/>
          <a:p>
            <a:r>
              <a:rPr lang="en-PH" sz="1200" dirty="0">
                <a:solidFill>
                  <a:schemeClr val="bg1"/>
                </a:solidFill>
                <a:latin typeface="Calibri" panose="020F0502020204030204" pitchFamily="34" charset="0"/>
                <a:ea typeface="Calibri" panose="020F0502020204030204" pitchFamily="34" charset="0"/>
              </a:rPr>
              <a:t>A lightweight, mobile-friendly interface designed to work on basic smartphones and low-bandwidth connections.</a:t>
            </a:r>
          </a:p>
        </p:txBody>
      </p:sp>
    </p:spTree>
    <p:extLst>
      <p:ext uri="{BB962C8B-B14F-4D97-AF65-F5344CB8AC3E}">
        <p14:creationId xmlns:p14="http://schemas.microsoft.com/office/powerpoint/2010/main" val="79728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90F60FF-FCEB-4315-A6A4-53DA070DC84C}"/>
              </a:ext>
            </a:extLst>
          </p:cNvPr>
          <p:cNvSpPr/>
          <p:nvPr/>
        </p:nvSpPr>
        <p:spPr>
          <a:xfrm>
            <a:off x="412864" y="278099"/>
            <a:ext cx="2663468" cy="253916"/>
          </a:xfrm>
          <a:prstGeom prst="roundRect">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extBox 6">
            <a:extLst>
              <a:ext uri="{FF2B5EF4-FFF2-40B4-BE49-F238E27FC236}">
                <a16:creationId xmlns:a16="http://schemas.microsoft.com/office/drawing/2014/main" id="{414A6C77-3DBF-4AB2-BC7C-92DE23BD43C4}"/>
              </a:ext>
            </a:extLst>
          </p:cNvPr>
          <p:cNvSpPr txBox="1"/>
          <p:nvPr/>
        </p:nvSpPr>
        <p:spPr>
          <a:xfrm>
            <a:off x="769413" y="278099"/>
            <a:ext cx="2863249" cy="253916"/>
          </a:xfrm>
          <a:prstGeom prst="rect">
            <a:avLst/>
          </a:prstGeom>
          <a:noFill/>
        </p:spPr>
        <p:txBody>
          <a:bodyPr wrap="square" rtlCol="0">
            <a:spAutoFit/>
          </a:bodyPr>
          <a:lstStyle/>
          <a:p>
            <a:r>
              <a:rPr lang="en-US" sz="1050" dirty="0"/>
              <a:t>1.3 – OBJECTIVES OF THE STUDY</a:t>
            </a:r>
            <a:endParaRPr lang="en-PH" sz="1050" dirty="0"/>
          </a:p>
        </p:txBody>
      </p:sp>
      <p:sp>
        <p:nvSpPr>
          <p:cNvPr id="38" name="TextBox 37">
            <a:extLst>
              <a:ext uri="{FF2B5EF4-FFF2-40B4-BE49-F238E27FC236}">
                <a16:creationId xmlns:a16="http://schemas.microsoft.com/office/drawing/2014/main" id="{09A8C5EB-C9FD-4B21-A1E7-3BF59EFFBE49}"/>
              </a:ext>
            </a:extLst>
          </p:cNvPr>
          <p:cNvSpPr txBox="1"/>
          <p:nvPr/>
        </p:nvSpPr>
        <p:spPr>
          <a:xfrm>
            <a:off x="412864" y="950653"/>
            <a:ext cx="4334991" cy="954107"/>
          </a:xfrm>
          <a:prstGeom prst="rect">
            <a:avLst/>
          </a:prstGeom>
          <a:noFill/>
        </p:spPr>
        <p:txBody>
          <a:bodyPr wrap="square" rtlCol="0">
            <a:spAutoFit/>
          </a:bodyPr>
          <a:lstStyle/>
          <a:p>
            <a:r>
              <a:rPr lang="en-US" sz="2800" dirty="0">
                <a:solidFill>
                  <a:srgbClr val="434E60"/>
                </a:solidFill>
                <a:latin typeface="Arial Black" panose="020B0A04020102020204" pitchFamily="34" charset="0"/>
              </a:rPr>
              <a:t>WHAT THIS STUDY AIMS TO ACHIEVE</a:t>
            </a:r>
            <a:endParaRPr lang="en-PH" sz="2800" dirty="0">
              <a:solidFill>
                <a:srgbClr val="434E60"/>
              </a:solidFill>
              <a:latin typeface="Arial Black" panose="020B0A04020102020204" pitchFamily="34" charset="0"/>
            </a:endParaRPr>
          </a:p>
        </p:txBody>
      </p:sp>
      <p:cxnSp>
        <p:nvCxnSpPr>
          <p:cNvPr id="5" name="Straight Connector 4">
            <a:extLst>
              <a:ext uri="{FF2B5EF4-FFF2-40B4-BE49-F238E27FC236}">
                <a16:creationId xmlns:a16="http://schemas.microsoft.com/office/drawing/2014/main" id="{B1CE98D9-F97C-464B-9B36-DCEBF88BF5AE}"/>
              </a:ext>
            </a:extLst>
          </p:cNvPr>
          <p:cNvCxnSpPr/>
          <p:nvPr/>
        </p:nvCxnSpPr>
        <p:spPr>
          <a:xfrm>
            <a:off x="412864" y="1904760"/>
            <a:ext cx="3999648" cy="0"/>
          </a:xfrm>
          <a:prstGeom prst="line">
            <a:avLst/>
          </a:prstGeom>
          <a:ln>
            <a:solidFill>
              <a:srgbClr val="434E60"/>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3474090-6059-4C0D-B435-919960F325D1}"/>
              </a:ext>
            </a:extLst>
          </p:cNvPr>
          <p:cNvSpPr/>
          <p:nvPr/>
        </p:nvSpPr>
        <p:spPr>
          <a:xfrm>
            <a:off x="412864" y="2137545"/>
            <a:ext cx="356549" cy="4720455"/>
          </a:xfrm>
          <a:prstGeom prst="rect">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1" name="TextBox 50">
            <a:extLst>
              <a:ext uri="{FF2B5EF4-FFF2-40B4-BE49-F238E27FC236}">
                <a16:creationId xmlns:a16="http://schemas.microsoft.com/office/drawing/2014/main" id="{C35763AA-5F69-4D66-BB99-708F6E6C4928}"/>
              </a:ext>
            </a:extLst>
          </p:cNvPr>
          <p:cNvSpPr txBox="1"/>
          <p:nvPr/>
        </p:nvSpPr>
        <p:spPr>
          <a:xfrm>
            <a:off x="412864" y="2211969"/>
            <a:ext cx="452709" cy="4278094"/>
          </a:xfrm>
          <a:prstGeom prst="rect">
            <a:avLst/>
          </a:prstGeom>
          <a:noFill/>
        </p:spPr>
        <p:txBody>
          <a:bodyPr wrap="square" rtlCol="0">
            <a:spAutoFit/>
          </a:bodyPr>
          <a:lstStyle/>
          <a:p>
            <a:r>
              <a:rPr lang="en-US" sz="1600" dirty="0">
                <a:solidFill>
                  <a:srgbClr val="8B9A9F"/>
                </a:solidFill>
                <a:latin typeface="Arial Black" panose="020B0A04020102020204" pitchFamily="34" charset="0"/>
              </a:rPr>
              <a:t>G</a:t>
            </a:r>
          </a:p>
          <a:p>
            <a:r>
              <a:rPr lang="en-US" sz="1600" dirty="0">
                <a:solidFill>
                  <a:srgbClr val="8B9A9F"/>
                </a:solidFill>
                <a:latin typeface="Arial Black" panose="020B0A04020102020204" pitchFamily="34" charset="0"/>
              </a:rPr>
              <a:t>E</a:t>
            </a:r>
          </a:p>
          <a:p>
            <a:r>
              <a:rPr lang="en-US" sz="1600" dirty="0">
                <a:solidFill>
                  <a:srgbClr val="8B9A9F"/>
                </a:solidFill>
                <a:latin typeface="Arial Black" panose="020B0A04020102020204" pitchFamily="34" charset="0"/>
              </a:rPr>
              <a:t>N</a:t>
            </a:r>
          </a:p>
          <a:p>
            <a:r>
              <a:rPr lang="en-US" sz="1600" dirty="0">
                <a:solidFill>
                  <a:srgbClr val="8B9A9F"/>
                </a:solidFill>
                <a:latin typeface="Arial Black" panose="020B0A04020102020204" pitchFamily="34" charset="0"/>
              </a:rPr>
              <a:t>E</a:t>
            </a:r>
          </a:p>
          <a:p>
            <a:r>
              <a:rPr lang="en-US" sz="1600" dirty="0">
                <a:solidFill>
                  <a:srgbClr val="8B9A9F"/>
                </a:solidFill>
                <a:latin typeface="Arial Black" panose="020B0A04020102020204" pitchFamily="34" charset="0"/>
              </a:rPr>
              <a:t>R</a:t>
            </a:r>
          </a:p>
          <a:p>
            <a:r>
              <a:rPr lang="en-US" sz="1600" dirty="0">
                <a:solidFill>
                  <a:srgbClr val="8B9A9F"/>
                </a:solidFill>
                <a:latin typeface="Arial Black" panose="020B0A04020102020204" pitchFamily="34" charset="0"/>
              </a:rPr>
              <a:t>A</a:t>
            </a:r>
          </a:p>
          <a:p>
            <a:r>
              <a:rPr lang="en-US" sz="1600" dirty="0">
                <a:solidFill>
                  <a:srgbClr val="8B9A9F"/>
                </a:solidFill>
                <a:latin typeface="Arial Black" panose="020B0A04020102020204" pitchFamily="34" charset="0"/>
              </a:rPr>
              <a:t>L </a:t>
            </a:r>
          </a:p>
          <a:p>
            <a:endParaRPr lang="en-US" sz="1600" dirty="0">
              <a:solidFill>
                <a:srgbClr val="8B9A9F"/>
              </a:solidFill>
              <a:latin typeface="Arial Black" panose="020B0A04020102020204" pitchFamily="34" charset="0"/>
            </a:endParaRPr>
          </a:p>
          <a:p>
            <a:r>
              <a:rPr lang="en-US" sz="1600" dirty="0">
                <a:solidFill>
                  <a:srgbClr val="8B9A9F"/>
                </a:solidFill>
                <a:latin typeface="Arial Black" panose="020B0A04020102020204" pitchFamily="34" charset="0"/>
              </a:rPr>
              <a:t>O</a:t>
            </a:r>
          </a:p>
          <a:p>
            <a:r>
              <a:rPr lang="en-US" sz="1600" dirty="0">
                <a:solidFill>
                  <a:srgbClr val="8B9A9F"/>
                </a:solidFill>
                <a:latin typeface="Arial Black" panose="020B0A04020102020204" pitchFamily="34" charset="0"/>
              </a:rPr>
              <a:t>B</a:t>
            </a:r>
          </a:p>
          <a:p>
            <a:r>
              <a:rPr lang="en-US" sz="1600" dirty="0">
                <a:solidFill>
                  <a:srgbClr val="8B9A9F"/>
                </a:solidFill>
                <a:latin typeface="Arial Black" panose="020B0A04020102020204" pitchFamily="34" charset="0"/>
              </a:rPr>
              <a:t>J</a:t>
            </a:r>
          </a:p>
          <a:p>
            <a:r>
              <a:rPr lang="en-US" sz="1600" dirty="0">
                <a:solidFill>
                  <a:srgbClr val="8B9A9F"/>
                </a:solidFill>
                <a:latin typeface="Arial Black" panose="020B0A04020102020204" pitchFamily="34" charset="0"/>
              </a:rPr>
              <a:t>E</a:t>
            </a:r>
          </a:p>
          <a:p>
            <a:r>
              <a:rPr lang="en-US" sz="1600" dirty="0">
                <a:solidFill>
                  <a:srgbClr val="8B9A9F"/>
                </a:solidFill>
                <a:latin typeface="Arial Black" panose="020B0A04020102020204" pitchFamily="34" charset="0"/>
              </a:rPr>
              <a:t>C</a:t>
            </a:r>
          </a:p>
          <a:p>
            <a:r>
              <a:rPr lang="en-US" sz="1600" dirty="0">
                <a:solidFill>
                  <a:srgbClr val="8B9A9F"/>
                </a:solidFill>
                <a:latin typeface="Arial Black" panose="020B0A04020102020204" pitchFamily="34" charset="0"/>
              </a:rPr>
              <a:t>T</a:t>
            </a:r>
          </a:p>
          <a:p>
            <a:r>
              <a:rPr lang="en-US" sz="1600" dirty="0">
                <a:solidFill>
                  <a:srgbClr val="8B9A9F"/>
                </a:solidFill>
                <a:latin typeface="Arial Black" panose="020B0A04020102020204" pitchFamily="34" charset="0"/>
              </a:rPr>
              <a:t>I</a:t>
            </a:r>
          </a:p>
          <a:p>
            <a:r>
              <a:rPr lang="en-US" sz="1600" dirty="0">
                <a:solidFill>
                  <a:srgbClr val="8B9A9F"/>
                </a:solidFill>
                <a:latin typeface="Arial Black" panose="020B0A04020102020204" pitchFamily="34" charset="0"/>
              </a:rPr>
              <a:t>V</a:t>
            </a:r>
          </a:p>
          <a:p>
            <a:r>
              <a:rPr lang="en-US" sz="1600" dirty="0">
                <a:solidFill>
                  <a:srgbClr val="8B9A9F"/>
                </a:solidFill>
                <a:latin typeface="Arial Black" panose="020B0A04020102020204" pitchFamily="34" charset="0"/>
              </a:rPr>
              <a:t>E</a:t>
            </a:r>
            <a:endParaRPr lang="en-PH" sz="1600" dirty="0">
              <a:solidFill>
                <a:srgbClr val="8B9A9F"/>
              </a:solidFill>
              <a:latin typeface="Arial Black" panose="020B0A04020102020204" pitchFamily="34" charset="0"/>
            </a:endParaRPr>
          </a:p>
        </p:txBody>
      </p:sp>
      <p:sp>
        <p:nvSpPr>
          <p:cNvPr id="52" name="TextBox 51">
            <a:extLst>
              <a:ext uri="{FF2B5EF4-FFF2-40B4-BE49-F238E27FC236}">
                <a16:creationId xmlns:a16="http://schemas.microsoft.com/office/drawing/2014/main" id="{7468F393-32E9-4E3C-BA35-6775855F43AB}"/>
              </a:ext>
            </a:extLst>
          </p:cNvPr>
          <p:cNvSpPr txBox="1"/>
          <p:nvPr/>
        </p:nvSpPr>
        <p:spPr>
          <a:xfrm>
            <a:off x="1406109" y="2967445"/>
            <a:ext cx="2577427" cy="2492990"/>
          </a:xfrm>
          <a:prstGeom prst="rect">
            <a:avLst/>
          </a:prstGeom>
          <a:noFill/>
        </p:spPr>
        <p:txBody>
          <a:bodyPr wrap="square">
            <a:spAutoFit/>
          </a:bodyPr>
          <a:lstStyle/>
          <a:p>
            <a:r>
              <a:rPr lang="en-PH" sz="1200" dirty="0">
                <a:solidFill>
                  <a:srgbClr val="262A36"/>
                </a:solidFill>
                <a:effectLst/>
                <a:latin typeface="Calibri" panose="020F0502020204030204" pitchFamily="34" charset="0"/>
                <a:ea typeface="Calibri" panose="020F0502020204030204" pitchFamily="34" charset="0"/>
              </a:rPr>
              <a:t>The primary objective of this project is to develop a centralized and accessible web-based application that connects communities in need with individuals and organizations willing to provide assistance. By integrating a structured system for posting requests, searching for communities, and facilitating direct communication between helpers and recipients, the project aims to enhance the efficiency, transparency, and timeliness of community aid distribution. </a:t>
            </a:r>
            <a:endParaRPr lang="en-PH" sz="1200" dirty="0">
              <a:solidFill>
                <a:srgbClr val="262A36"/>
              </a:solidFill>
            </a:endParaRPr>
          </a:p>
        </p:txBody>
      </p:sp>
      <p:sp>
        <p:nvSpPr>
          <p:cNvPr id="53" name="Rectangle 52">
            <a:extLst>
              <a:ext uri="{FF2B5EF4-FFF2-40B4-BE49-F238E27FC236}">
                <a16:creationId xmlns:a16="http://schemas.microsoft.com/office/drawing/2014/main" id="{F95508AB-6D7F-4F7F-B4F9-07B2BC6ED48B}"/>
              </a:ext>
            </a:extLst>
          </p:cNvPr>
          <p:cNvSpPr/>
          <p:nvPr/>
        </p:nvSpPr>
        <p:spPr>
          <a:xfrm rot="16200000">
            <a:off x="8240940" y="-3062497"/>
            <a:ext cx="356549" cy="7545572"/>
          </a:xfrm>
          <a:prstGeom prst="rect">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4" name="TextBox 53">
            <a:extLst>
              <a:ext uri="{FF2B5EF4-FFF2-40B4-BE49-F238E27FC236}">
                <a16:creationId xmlns:a16="http://schemas.microsoft.com/office/drawing/2014/main" id="{06726533-A16A-43C4-8612-E6F622B25DE5}"/>
              </a:ext>
            </a:extLst>
          </p:cNvPr>
          <p:cNvSpPr txBox="1"/>
          <p:nvPr/>
        </p:nvSpPr>
        <p:spPr>
          <a:xfrm>
            <a:off x="7348454" y="550010"/>
            <a:ext cx="4747853" cy="338554"/>
          </a:xfrm>
          <a:prstGeom prst="rect">
            <a:avLst/>
          </a:prstGeom>
          <a:noFill/>
        </p:spPr>
        <p:txBody>
          <a:bodyPr wrap="square" rtlCol="0">
            <a:spAutoFit/>
          </a:bodyPr>
          <a:lstStyle/>
          <a:p>
            <a:r>
              <a:rPr lang="en-US" sz="1600" dirty="0">
                <a:solidFill>
                  <a:srgbClr val="8B9A9F"/>
                </a:solidFill>
                <a:latin typeface="Arial Black" panose="020B0A04020102020204" pitchFamily="34" charset="0"/>
              </a:rPr>
              <a:t>SPECIFIC OBJECTIVES</a:t>
            </a:r>
          </a:p>
        </p:txBody>
      </p:sp>
      <p:sp>
        <p:nvSpPr>
          <p:cNvPr id="11" name="Rectangle: Rounded Corners 10">
            <a:extLst>
              <a:ext uri="{FF2B5EF4-FFF2-40B4-BE49-F238E27FC236}">
                <a16:creationId xmlns:a16="http://schemas.microsoft.com/office/drawing/2014/main" id="{C28C1C45-3C69-47A6-A36F-C059256BAE6C}"/>
              </a:ext>
            </a:extLst>
          </p:cNvPr>
          <p:cNvSpPr/>
          <p:nvPr/>
        </p:nvSpPr>
        <p:spPr>
          <a:xfrm>
            <a:off x="5560828" y="1329070"/>
            <a:ext cx="340242" cy="356550"/>
          </a:xfrm>
          <a:prstGeom prst="roundRect">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PH" dirty="0"/>
          </a:p>
        </p:txBody>
      </p:sp>
      <p:sp>
        <p:nvSpPr>
          <p:cNvPr id="56" name="Rectangle: Rounded Corners 55">
            <a:extLst>
              <a:ext uri="{FF2B5EF4-FFF2-40B4-BE49-F238E27FC236}">
                <a16:creationId xmlns:a16="http://schemas.microsoft.com/office/drawing/2014/main" id="{4BB6AC1D-9441-4208-8368-B4340A44EA42}"/>
              </a:ext>
            </a:extLst>
          </p:cNvPr>
          <p:cNvSpPr/>
          <p:nvPr/>
        </p:nvSpPr>
        <p:spPr>
          <a:xfrm>
            <a:off x="5560828" y="2375762"/>
            <a:ext cx="340242" cy="356550"/>
          </a:xfrm>
          <a:prstGeom prst="roundRect">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PH" dirty="0"/>
          </a:p>
        </p:txBody>
      </p:sp>
      <p:sp>
        <p:nvSpPr>
          <p:cNvPr id="57" name="Rectangle: Rounded Corners 56">
            <a:extLst>
              <a:ext uri="{FF2B5EF4-FFF2-40B4-BE49-F238E27FC236}">
                <a16:creationId xmlns:a16="http://schemas.microsoft.com/office/drawing/2014/main" id="{C9F1FF59-B2D6-4847-91D9-4360729C5007}"/>
              </a:ext>
            </a:extLst>
          </p:cNvPr>
          <p:cNvSpPr/>
          <p:nvPr/>
        </p:nvSpPr>
        <p:spPr>
          <a:xfrm>
            <a:off x="5560828" y="3419021"/>
            <a:ext cx="340242" cy="356550"/>
          </a:xfrm>
          <a:prstGeom prst="roundRect">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PH" dirty="0"/>
          </a:p>
        </p:txBody>
      </p:sp>
      <p:sp>
        <p:nvSpPr>
          <p:cNvPr id="58" name="Rectangle: Rounded Corners 57">
            <a:extLst>
              <a:ext uri="{FF2B5EF4-FFF2-40B4-BE49-F238E27FC236}">
                <a16:creationId xmlns:a16="http://schemas.microsoft.com/office/drawing/2014/main" id="{6CF5322B-3FAB-4AE3-8FC8-967DA3F1042E}"/>
              </a:ext>
            </a:extLst>
          </p:cNvPr>
          <p:cNvSpPr/>
          <p:nvPr/>
        </p:nvSpPr>
        <p:spPr>
          <a:xfrm>
            <a:off x="5615763" y="4459288"/>
            <a:ext cx="340242" cy="356550"/>
          </a:xfrm>
          <a:prstGeom prst="roundRect">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endParaRPr lang="en-PH" dirty="0"/>
          </a:p>
        </p:txBody>
      </p:sp>
      <p:sp>
        <p:nvSpPr>
          <p:cNvPr id="59" name="Rectangle: Rounded Corners 58">
            <a:extLst>
              <a:ext uri="{FF2B5EF4-FFF2-40B4-BE49-F238E27FC236}">
                <a16:creationId xmlns:a16="http://schemas.microsoft.com/office/drawing/2014/main" id="{B097F7D8-21C1-412B-A750-22223C64C760}"/>
              </a:ext>
            </a:extLst>
          </p:cNvPr>
          <p:cNvSpPr/>
          <p:nvPr/>
        </p:nvSpPr>
        <p:spPr>
          <a:xfrm>
            <a:off x="5615763" y="5505980"/>
            <a:ext cx="340242" cy="356550"/>
          </a:xfrm>
          <a:prstGeom prst="roundRect">
            <a:avLst/>
          </a:prstGeom>
          <a:solidFill>
            <a:srgbClr val="26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endParaRPr lang="en-PH" dirty="0"/>
          </a:p>
        </p:txBody>
      </p:sp>
      <p:sp>
        <p:nvSpPr>
          <p:cNvPr id="60" name="TextBox 59">
            <a:extLst>
              <a:ext uri="{FF2B5EF4-FFF2-40B4-BE49-F238E27FC236}">
                <a16:creationId xmlns:a16="http://schemas.microsoft.com/office/drawing/2014/main" id="{1CDDAE78-BE1A-4E62-85D2-75376C3CDB40}"/>
              </a:ext>
            </a:extLst>
          </p:cNvPr>
          <p:cNvSpPr txBox="1"/>
          <p:nvPr/>
        </p:nvSpPr>
        <p:spPr>
          <a:xfrm>
            <a:off x="5998535" y="1316288"/>
            <a:ext cx="2167270" cy="369332"/>
          </a:xfrm>
          <a:prstGeom prst="rect">
            <a:avLst/>
          </a:prstGeom>
          <a:noFill/>
        </p:spPr>
        <p:txBody>
          <a:bodyPr wrap="square">
            <a:spAutoFit/>
          </a:bodyPr>
          <a:lstStyle/>
          <a:p>
            <a:r>
              <a:rPr lang="en-PH" sz="1800" dirty="0">
                <a:solidFill>
                  <a:srgbClr val="BC9876"/>
                </a:solidFill>
                <a:effectLst/>
                <a:latin typeface="Calibri" panose="020F0502020204030204" pitchFamily="34" charset="0"/>
                <a:ea typeface="Calibri" panose="020F0502020204030204" pitchFamily="34" charset="0"/>
              </a:rPr>
              <a:t>Organized Requests </a:t>
            </a:r>
            <a:endParaRPr lang="en-PH" dirty="0">
              <a:solidFill>
                <a:srgbClr val="BC9876"/>
              </a:solidFill>
            </a:endParaRPr>
          </a:p>
        </p:txBody>
      </p:sp>
      <p:sp>
        <p:nvSpPr>
          <p:cNvPr id="61" name="TextBox 60">
            <a:extLst>
              <a:ext uri="{FF2B5EF4-FFF2-40B4-BE49-F238E27FC236}">
                <a16:creationId xmlns:a16="http://schemas.microsoft.com/office/drawing/2014/main" id="{464E5369-4A02-456B-B05B-403A7D4294E2}"/>
              </a:ext>
            </a:extLst>
          </p:cNvPr>
          <p:cNvSpPr txBox="1"/>
          <p:nvPr/>
        </p:nvSpPr>
        <p:spPr>
          <a:xfrm>
            <a:off x="5998535" y="1629422"/>
            <a:ext cx="6005623" cy="461665"/>
          </a:xfrm>
          <a:prstGeom prst="rect">
            <a:avLst/>
          </a:prstGeom>
          <a:noFill/>
        </p:spPr>
        <p:txBody>
          <a:bodyPr wrap="square">
            <a:spAutoFit/>
          </a:bodyPr>
          <a:lstStyle/>
          <a:p>
            <a:r>
              <a:rPr lang="en-PH" sz="1200" dirty="0">
                <a:solidFill>
                  <a:srgbClr val="262A36"/>
                </a:solidFill>
                <a:latin typeface="Calibri" panose="020F0502020204030204" pitchFamily="34" charset="0"/>
                <a:ea typeface="Calibri" panose="020F0502020204030204" pitchFamily="34" charset="0"/>
              </a:rPr>
              <a:t>To establish a centralized posting system where verified barangay officials and community leaders can submit structured requests for essential goods and medicines.</a:t>
            </a:r>
          </a:p>
        </p:txBody>
      </p:sp>
      <p:sp>
        <p:nvSpPr>
          <p:cNvPr id="62" name="TextBox 61">
            <a:extLst>
              <a:ext uri="{FF2B5EF4-FFF2-40B4-BE49-F238E27FC236}">
                <a16:creationId xmlns:a16="http://schemas.microsoft.com/office/drawing/2014/main" id="{9BECDD48-4D39-4FA3-919F-1AD69E0F0740}"/>
              </a:ext>
            </a:extLst>
          </p:cNvPr>
          <p:cNvSpPr txBox="1"/>
          <p:nvPr/>
        </p:nvSpPr>
        <p:spPr>
          <a:xfrm>
            <a:off x="5985245" y="2366864"/>
            <a:ext cx="6097772" cy="369332"/>
          </a:xfrm>
          <a:prstGeom prst="rect">
            <a:avLst/>
          </a:prstGeom>
          <a:noFill/>
        </p:spPr>
        <p:txBody>
          <a:bodyPr wrap="square">
            <a:spAutoFit/>
          </a:bodyPr>
          <a:lstStyle/>
          <a:p>
            <a:r>
              <a:rPr lang="en-PH" dirty="0">
                <a:solidFill>
                  <a:srgbClr val="BC9876"/>
                </a:solidFill>
                <a:latin typeface="Calibri" panose="020F0502020204030204" pitchFamily="34" charset="0"/>
                <a:ea typeface="Calibri" panose="020F0502020204030204" pitchFamily="34" charset="0"/>
              </a:rPr>
              <a:t>Finding Communities in Need </a:t>
            </a:r>
          </a:p>
        </p:txBody>
      </p:sp>
      <p:sp>
        <p:nvSpPr>
          <p:cNvPr id="63" name="TextBox 62">
            <a:extLst>
              <a:ext uri="{FF2B5EF4-FFF2-40B4-BE49-F238E27FC236}">
                <a16:creationId xmlns:a16="http://schemas.microsoft.com/office/drawing/2014/main" id="{4E94B3C2-4AB9-4A0A-A5E1-668109C4B7B8}"/>
              </a:ext>
            </a:extLst>
          </p:cNvPr>
          <p:cNvSpPr txBox="1"/>
          <p:nvPr/>
        </p:nvSpPr>
        <p:spPr>
          <a:xfrm>
            <a:off x="5950689" y="2666005"/>
            <a:ext cx="6145618" cy="461665"/>
          </a:xfrm>
          <a:prstGeom prst="rect">
            <a:avLst/>
          </a:prstGeom>
          <a:noFill/>
        </p:spPr>
        <p:txBody>
          <a:bodyPr wrap="square">
            <a:spAutoFit/>
          </a:bodyPr>
          <a:lstStyle/>
          <a:p>
            <a:r>
              <a:rPr lang="en-PH" sz="1200" dirty="0">
                <a:solidFill>
                  <a:srgbClr val="262A36"/>
                </a:solidFill>
                <a:latin typeface="Calibri" panose="020F0502020204030204" pitchFamily="34" charset="0"/>
                <a:ea typeface="Calibri" panose="020F0502020204030204" pitchFamily="34" charset="0"/>
              </a:rPr>
              <a:t>To develop a searchable database with filters for location, urgency, and type of need, enabling helpers to quickly identify communities.</a:t>
            </a:r>
          </a:p>
        </p:txBody>
      </p:sp>
      <p:sp>
        <p:nvSpPr>
          <p:cNvPr id="64" name="TextBox 63">
            <a:extLst>
              <a:ext uri="{FF2B5EF4-FFF2-40B4-BE49-F238E27FC236}">
                <a16:creationId xmlns:a16="http://schemas.microsoft.com/office/drawing/2014/main" id="{87B91C7D-FC99-4BC1-9700-73BBA81D554B}"/>
              </a:ext>
            </a:extLst>
          </p:cNvPr>
          <p:cNvSpPr txBox="1"/>
          <p:nvPr/>
        </p:nvSpPr>
        <p:spPr>
          <a:xfrm>
            <a:off x="5985245" y="3412630"/>
            <a:ext cx="6145618" cy="369332"/>
          </a:xfrm>
          <a:prstGeom prst="rect">
            <a:avLst/>
          </a:prstGeom>
          <a:noFill/>
        </p:spPr>
        <p:txBody>
          <a:bodyPr wrap="square">
            <a:spAutoFit/>
          </a:bodyPr>
          <a:lstStyle/>
          <a:p>
            <a:r>
              <a:rPr lang="en-PH" dirty="0">
                <a:solidFill>
                  <a:srgbClr val="BC9876"/>
                </a:solidFill>
                <a:latin typeface="Calibri" panose="020F0502020204030204" pitchFamily="34" charset="0"/>
                <a:ea typeface="Calibri" panose="020F0502020204030204" pitchFamily="34" charset="0"/>
              </a:rPr>
              <a:t>Direct Communication </a:t>
            </a:r>
          </a:p>
        </p:txBody>
      </p:sp>
      <p:sp>
        <p:nvSpPr>
          <p:cNvPr id="65" name="TextBox 64">
            <a:extLst>
              <a:ext uri="{FF2B5EF4-FFF2-40B4-BE49-F238E27FC236}">
                <a16:creationId xmlns:a16="http://schemas.microsoft.com/office/drawing/2014/main" id="{00EF900E-7517-4C27-A47A-BCDB58EE570E}"/>
              </a:ext>
            </a:extLst>
          </p:cNvPr>
          <p:cNvSpPr txBox="1"/>
          <p:nvPr/>
        </p:nvSpPr>
        <p:spPr>
          <a:xfrm>
            <a:off x="5961322" y="3713305"/>
            <a:ext cx="6145618" cy="461665"/>
          </a:xfrm>
          <a:prstGeom prst="rect">
            <a:avLst/>
          </a:prstGeom>
          <a:noFill/>
        </p:spPr>
        <p:txBody>
          <a:bodyPr wrap="square">
            <a:spAutoFit/>
          </a:bodyPr>
          <a:lstStyle/>
          <a:p>
            <a:r>
              <a:rPr lang="en-PH" sz="1200" dirty="0">
                <a:solidFill>
                  <a:srgbClr val="262A36"/>
                </a:solidFill>
                <a:latin typeface="Calibri" panose="020F0502020204030204" pitchFamily="34" charset="0"/>
                <a:ea typeface="Calibri" panose="020F0502020204030204" pitchFamily="34" charset="0"/>
              </a:rPr>
              <a:t>To integrate a secure messaging feature that connects helpers directly with community representatives.</a:t>
            </a:r>
          </a:p>
        </p:txBody>
      </p:sp>
      <p:sp>
        <p:nvSpPr>
          <p:cNvPr id="66" name="TextBox 65">
            <a:extLst>
              <a:ext uri="{FF2B5EF4-FFF2-40B4-BE49-F238E27FC236}">
                <a16:creationId xmlns:a16="http://schemas.microsoft.com/office/drawing/2014/main" id="{8758987B-3ED0-4FFA-810E-F74D8BE77795}"/>
              </a:ext>
            </a:extLst>
          </p:cNvPr>
          <p:cNvSpPr txBox="1"/>
          <p:nvPr/>
        </p:nvSpPr>
        <p:spPr>
          <a:xfrm>
            <a:off x="5985245" y="4446506"/>
            <a:ext cx="6145618" cy="369332"/>
          </a:xfrm>
          <a:prstGeom prst="rect">
            <a:avLst/>
          </a:prstGeom>
          <a:noFill/>
        </p:spPr>
        <p:txBody>
          <a:bodyPr wrap="square">
            <a:spAutoFit/>
          </a:bodyPr>
          <a:lstStyle/>
          <a:p>
            <a:r>
              <a:rPr lang="en-PH" dirty="0">
                <a:solidFill>
                  <a:srgbClr val="BC9876"/>
                </a:solidFill>
                <a:latin typeface="Calibri" panose="020F0502020204030204" pitchFamily="34" charset="0"/>
                <a:ea typeface="Calibri" panose="020F0502020204030204" pitchFamily="34" charset="0"/>
              </a:rPr>
              <a:t>Transparency in Aid Distribution </a:t>
            </a:r>
          </a:p>
        </p:txBody>
      </p:sp>
      <p:sp>
        <p:nvSpPr>
          <p:cNvPr id="67" name="TextBox 66">
            <a:extLst>
              <a:ext uri="{FF2B5EF4-FFF2-40B4-BE49-F238E27FC236}">
                <a16:creationId xmlns:a16="http://schemas.microsoft.com/office/drawing/2014/main" id="{97C89610-1115-47F5-ADBF-4A939CA8253E}"/>
              </a:ext>
            </a:extLst>
          </p:cNvPr>
          <p:cNvSpPr txBox="1"/>
          <p:nvPr/>
        </p:nvSpPr>
        <p:spPr>
          <a:xfrm>
            <a:off x="5998535" y="4760605"/>
            <a:ext cx="6145618" cy="461665"/>
          </a:xfrm>
          <a:prstGeom prst="rect">
            <a:avLst/>
          </a:prstGeom>
          <a:noFill/>
        </p:spPr>
        <p:txBody>
          <a:bodyPr wrap="square">
            <a:spAutoFit/>
          </a:bodyPr>
          <a:lstStyle/>
          <a:p>
            <a:r>
              <a:rPr lang="en-PH" sz="1200" dirty="0">
                <a:solidFill>
                  <a:srgbClr val="262A36"/>
                </a:solidFill>
                <a:latin typeface="Calibri" panose="020F0502020204030204" pitchFamily="34" charset="0"/>
                <a:ea typeface="Calibri" panose="020F0502020204030204" pitchFamily="34" charset="0"/>
              </a:rPr>
              <a:t>To implement a request tracking and update mechanism where communities can mark fulfilled needs</a:t>
            </a:r>
          </a:p>
        </p:txBody>
      </p:sp>
      <p:sp>
        <p:nvSpPr>
          <p:cNvPr id="71" name="TextBox 70">
            <a:extLst>
              <a:ext uri="{FF2B5EF4-FFF2-40B4-BE49-F238E27FC236}">
                <a16:creationId xmlns:a16="http://schemas.microsoft.com/office/drawing/2014/main" id="{1A737F6D-AB96-419E-B7D7-B6314510CCA7}"/>
              </a:ext>
            </a:extLst>
          </p:cNvPr>
          <p:cNvSpPr txBox="1"/>
          <p:nvPr/>
        </p:nvSpPr>
        <p:spPr>
          <a:xfrm>
            <a:off x="5998535" y="5499589"/>
            <a:ext cx="6097772" cy="369332"/>
          </a:xfrm>
          <a:prstGeom prst="rect">
            <a:avLst/>
          </a:prstGeom>
          <a:noFill/>
        </p:spPr>
        <p:txBody>
          <a:bodyPr wrap="square">
            <a:spAutoFit/>
          </a:bodyPr>
          <a:lstStyle/>
          <a:p>
            <a:r>
              <a:rPr lang="en-PH" dirty="0">
                <a:solidFill>
                  <a:srgbClr val="BC9876"/>
                </a:solidFill>
                <a:latin typeface="Calibri" panose="020F0502020204030204" pitchFamily="34" charset="0"/>
                <a:ea typeface="Calibri" panose="020F0502020204030204" pitchFamily="34" charset="0"/>
              </a:rPr>
              <a:t>Accessibility Constraints </a:t>
            </a:r>
          </a:p>
        </p:txBody>
      </p:sp>
      <p:sp>
        <p:nvSpPr>
          <p:cNvPr id="74" name="TextBox 73">
            <a:extLst>
              <a:ext uri="{FF2B5EF4-FFF2-40B4-BE49-F238E27FC236}">
                <a16:creationId xmlns:a16="http://schemas.microsoft.com/office/drawing/2014/main" id="{A4AA83B1-72B1-420A-8A74-C5BF1F1B064C}"/>
              </a:ext>
            </a:extLst>
          </p:cNvPr>
          <p:cNvSpPr txBox="1"/>
          <p:nvPr/>
        </p:nvSpPr>
        <p:spPr>
          <a:xfrm>
            <a:off x="5961322" y="5814786"/>
            <a:ext cx="6097772" cy="646331"/>
          </a:xfrm>
          <a:prstGeom prst="rect">
            <a:avLst/>
          </a:prstGeom>
          <a:noFill/>
        </p:spPr>
        <p:txBody>
          <a:bodyPr wrap="square">
            <a:spAutoFit/>
          </a:bodyPr>
          <a:lstStyle/>
          <a:p>
            <a:r>
              <a:rPr lang="en-PH" sz="1200" dirty="0">
                <a:solidFill>
                  <a:srgbClr val="262A36"/>
                </a:solidFill>
                <a:latin typeface="Calibri" panose="020F0502020204030204" pitchFamily="34" charset="0"/>
                <a:ea typeface="Calibri" panose="020F0502020204030204" pitchFamily="34" charset="0"/>
              </a:rPr>
              <a:t>To design a lightweight, mobile-friendly interface that functions on basic smartphones and low-bandwidth connections, demonstrating usability during pilot testing in three barangays within twelve months.</a:t>
            </a:r>
          </a:p>
        </p:txBody>
      </p:sp>
    </p:spTree>
    <p:extLst>
      <p:ext uri="{BB962C8B-B14F-4D97-AF65-F5344CB8AC3E}">
        <p14:creationId xmlns:p14="http://schemas.microsoft.com/office/powerpoint/2010/main" val="1413945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90F60FF-FCEB-4315-A6A4-53DA070DC84C}"/>
              </a:ext>
            </a:extLst>
          </p:cNvPr>
          <p:cNvSpPr/>
          <p:nvPr/>
        </p:nvSpPr>
        <p:spPr>
          <a:xfrm>
            <a:off x="412864" y="278099"/>
            <a:ext cx="2663468" cy="253916"/>
          </a:xfrm>
          <a:prstGeom prst="roundRect">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extBox 6">
            <a:extLst>
              <a:ext uri="{FF2B5EF4-FFF2-40B4-BE49-F238E27FC236}">
                <a16:creationId xmlns:a16="http://schemas.microsoft.com/office/drawing/2014/main" id="{414A6C77-3DBF-4AB2-BC7C-92DE23BD43C4}"/>
              </a:ext>
            </a:extLst>
          </p:cNvPr>
          <p:cNvSpPr txBox="1"/>
          <p:nvPr/>
        </p:nvSpPr>
        <p:spPr>
          <a:xfrm>
            <a:off x="769413" y="278099"/>
            <a:ext cx="2863249" cy="253916"/>
          </a:xfrm>
          <a:prstGeom prst="rect">
            <a:avLst/>
          </a:prstGeom>
          <a:noFill/>
        </p:spPr>
        <p:txBody>
          <a:bodyPr wrap="square" rtlCol="0">
            <a:spAutoFit/>
          </a:bodyPr>
          <a:lstStyle/>
          <a:p>
            <a:r>
              <a:rPr lang="en-US" sz="1050" dirty="0"/>
              <a:t>1.4 – SCOPE &amp; LIMITATIONS</a:t>
            </a:r>
            <a:endParaRPr lang="en-PH" sz="1050" dirty="0"/>
          </a:p>
        </p:txBody>
      </p:sp>
      <p:sp>
        <p:nvSpPr>
          <p:cNvPr id="3" name="Rectangle: Rounded Corners 2">
            <a:extLst>
              <a:ext uri="{FF2B5EF4-FFF2-40B4-BE49-F238E27FC236}">
                <a16:creationId xmlns:a16="http://schemas.microsoft.com/office/drawing/2014/main" id="{78F6DFAE-3D87-4058-90FC-AB1CA2B857AF}"/>
              </a:ext>
            </a:extLst>
          </p:cNvPr>
          <p:cNvSpPr/>
          <p:nvPr/>
        </p:nvSpPr>
        <p:spPr>
          <a:xfrm>
            <a:off x="363256" y="2312581"/>
            <a:ext cx="2564252" cy="1913861"/>
          </a:xfrm>
          <a:prstGeom prst="roundRect">
            <a:avLst/>
          </a:prstGeom>
          <a:noFill/>
          <a:ln>
            <a:solidFill>
              <a:srgbClr val="26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Rounded Corners 25">
            <a:extLst>
              <a:ext uri="{FF2B5EF4-FFF2-40B4-BE49-F238E27FC236}">
                <a16:creationId xmlns:a16="http://schemas.microsoft.com/office/drawing/2014/main" id="{19D3EFED-C0DC-44DB-8458-72C5F79531CE}"/>
              </a:ext>
            </a:extLst>
          </p:cNvPr>
          <p:cNvSpPr/>
          <p:nvPr/>
        </p:nvSpPr>
        <p:spPr>
          <a:xfrm>
            <a:off x="313648" y="4433389"/>
            <a:ext cx="2613860" cy="1913861"/>
          </a:xfrm>
          <a:prstGeom prst="roundRect">
            <a:avLst/>
          </a:prstGeom>
          <a:noFill/>
          <a:ln>
            <a:solidFill>
              <a:srgbClr val="26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7" name="Rectangle: Rounded Corners 26">
            <a:extLst>
              <a:ext uri="{FF2B5EF4-FFF2-40B4-BE49-F238E27FC236}">
                <a16:creationId xmlns:a16="http://schemas.microsoft.com/office/drawing/2014/main" id="{6FA757F6-8249-4A25-B0D3-614B7114832F}"/>
              </a:ext>
            </a:extLst>
          </p:cNvPr>
          <p:cNvSpPr/>
          <p:nvPr/>
        </p:nvSpPr>
        <p:spPr>
          <a:xfrm>
            <a:off x="3076332" y="4422756"/>
            <a:ext cx="2564252" cy="1913861"/>
          </a:xfrm>
          <a:prstGeom prst="roundRect">
            <a:avLst/>
          </a:prstGeom>
          <a:noFill/>
          <a:ln>
            <a:solidFill>
              <a:srgbClr val="26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Rectangle: Rounded Corners 27">
            <a:extLst>
              <a:ext uri="{FF2B5EF4-FFF2-40B4-BE49-F238E27FC236}">
                <a16:creationId xmlns:a16="http://schemas.microsoft.com/office/drawing/2014/main" id="{01BBC576-5B46-4DF6-A184-40AD88665EEE}"/>
              </a:ext>
            </a:extLst>
          </p:cNvPr>
          <p:cNvSpPr/>
          <p:nvPr/>
        </p:nvSpPr>
        <p:spPr>
          <a:xfrm>
            <a:off x="3076332" y="2312581"/>
            <a:ext cx="2564252" cy="1913861"/>
          </a:xfrm>
          <a:prstGeom prst="roundRect">
            <a:avLst/>
          </a:prstGeom>
          <a:noFill/>
          <a:ln>
            <a:solidFill>
              <a:srgbClr val="26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9" name="TextBox 28">
            <a:extLst>
              <a:ext uri="{FF2B5EF4-FFF2-40B4-BE49-F238E27FC236}">
                <a16:creationId xmlns:a16="http://schemas.microsoft.com/office/drawing/2014/main" id="{936B943F-E5A1-4B50-ADAF-F9F277CDB488}"/>
              </a:ext>
            </a:extLst>
          </p:cNvPr>
          <p:cNvSpPr txBox="1"/>
          <p:nvPr/>
        </p:nvSpPr>
        <p:spPr>
          <a:xfrm>
            <a:off x="363256" y="1936357"/>
            <a:ext cx="1331734" cy="338554"/>
          </a:xfrm>
          <a:prstGeom prst="rect">
            <a:avLst/>
          </a:prstGeom>
          <a:noFill/>
        </p:spPr>
        <p:txBody>
          <a:bodyPr wrap="square" rtlCol="0">
            <a:spAutoFit/>
          </a:bodyPr>
          <a:lstStyle/>
          <a:p>
            <a:r>
              <a:rPr lang="en-US" sz="1600" dirty="0">
                <a:solidFill>
                  <a:srgbClr val="262A36"/>
                </a:solidFill>
                <a:latin typeface="Arial Black" panose="020B0A04020102020204" pitchFamily="34" charset="0"/>
              </a:rPr>
              <a:t>SCOPE</a:t>
            </a:r>
          </a:p>
        </p:txBody>
      </p:sp>
      <p:sp>
        <p:nvSpPr>
          <p:cNvPr id="30" name="TextBox 29">
            <a:extLst>
              <a:ext uri="{FF2B5EF4-FFF2-40B4-BE49-F238E27FC236}">
                <a16:creationId xmlns:a16="http://schemas.microsoft.com/office/drawing/2014/main" id="{97693158-42B4-46CE-A6AE-A665DCD7EC3C}"/>
              </a:ext>
            </a:extLst>
          </p:cNvPr>
          <p:cNvSpPr txBox="1"/>
          <p:nvPr/>
        </p:nvSpPr>
        <p:spPr>
          <a:xfrm>
            <a:off x="313648" y="671650"/>
            <a:ext cx="4818355" cy="954107"/>
          </a:xfrm>
          <a:prstGeom prst="rect">
            <a:avLst/>
          </a:prstGeom>
          <a:noFill/>
        </p:spPr>
        <p:txBody>
          <a:bodyPr wrap="square" rtlCol="0">
            <a:spAutoFit/>
          </a:bodyPr>
          <a:lstStyle/>
          <a:p>
            <a:r>
              <a:rPr lang="en-US" sz="2800" dirty="0">
                <a:solidFill>
                  <a:srgbClr val="434E60"/>
                </a:solidFill>
                <a:latin typeface="Arial Black" panose="020B0A04020102020204" pitchFamily="34" charset="0"/>
              </a:rPr>
              <a:t>WHAT CAN COVERS AND WHAT IT DOESN’T</a:t>
            </a:r>
            <a:endParaRPr lang="en-PH" sz="2800" dirty="0">
              <a:solidFill>
                <a:srgbClr val="434E60"/>
              </a:solidFill>
              <a:latin typeface="Arial Black" panose="020B0A04020102020204" pitchFamily="34" charset="0"/>
            </a:endParaRPr>
          </a:p>
        </p:txBody>
      </p:sp>
      <p:cxnSp>
        <p:nvCxnSpPr>
          <p:cNvPr id="31" name="Straight Connector 30">
            <a:extLst>
              <a:ext uri="{FF2B5EF4-FFF2-40B4-BE49-F238E27FC236}">
                <a16:creationId xmlns:a16="http://schemas.microsoft.com/office/drawing/2014/main" id="{C34A7CC6-3770-4FF8-87D3-26A5DE95BD82}"/>
              </a:ext>
            </a:extLst>
          </p:cNvPr>
          <p:cNvCxnSpPr>
            <a:cxnSpLocks/>
          </p:cNvCxnSpPr>
          <p:nvPr/>
        </p:nvCxnSpPr>
        <p:spPr>
          <a:xfrm>
            <a:off x="412864" y="1625757"/>
            <a:ext cx="4956578" cy="0"/>
          </a:xfrm>
          <a:prstGeom prst="line">
            <a:avLst/>
          </a:prstGeom>
          <a:ln>
            <a:solidFill>
              <a:srgbClr val="434E60"/>
            </a:solidFill>
          </a:ln>
        </p:spPr>
        <p:style>
          <a:lnRef idx="1">
            <a:schemeClr val="accent1"/>
          </a:lnRef>
          <a:fillRef idx="0">
            <a:schemeClr val="accent1"/>
          </a:fillRef>
          <a:effectRef idx="0">
            <a:schemeClr val="accent1"/>
          </a:effectRef>
          <a:fontRef idx="minor">
            <a:schemeClr val="tx1"/>
          </a:fontRef>
        </p:style>
      </p:cxnSp>
      <p:sp>
        <p:nvSpPr>
          <p:cNvPr id="9" name="Hexagon 8">
            <a:extLst>
              <a:ext uri="{FF2B5EF4-FFF2-40B4-BE49-F238E27FC236}">
                <a16:creationId xmlns:a16="http://schemas.microsoft.com/office/drawing/2014/main" id="{13153B84-44C1-4A3A-80F6-9A765709FD8C}"/>
              </a:ext>
            </a:extLst>
          </p:cNvPr>
          <p:cNvSpPr/>
          <p:nvPr/>
        </p:nvSpPr>
        <p:spPr>
          <a:xfrm>
            <a:off x="6319438" y="4116423"/>
            <a:ext cx="2908027" cy="2416762"/>
          </a:xfrm>
          <a:prstGeom prst="hexagon">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4" name="Hexagon 33">
            <a:extLst>
              <a:ext uri="{FF2B5EF4-FFF2-40B4-BE49-F238E27FC236}">
                <a16:creationId xmlns:a16="http://schemas.microsoft.com/office/drawing/2014/main" id="{E241DD73-061C-4698-95D0-72D21AFCFFB4}"/>
              </a:ext>
            </a:extLst>
          </p:cNvPr>
          <p:cNvSpPr/>
          <p:nvPr/>
        </p:nvSpPr>
        <p:spPr>
          <a:xfrm>
            <a:off x="6325502" y="1538744"/>
            <a:ext cx="2908027" cy="2416762"/>
          </a:xfrm>
          <a:prstGeom prst="hexagon">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5" name="Hexagon 34">
            <a:extLst>
              <a:ext uri="{FF2B5EF4-FFF2-40B4-BE49-F238E27FC236}">
                <a16:creationId xmlns:a16="http://schemas.microsoft.com/office/drawing/2014/main" id="{68042C0E-A1C1-409E-AEF1-BEE98548A4FF}"/>
              </a:ext>
            </a:extLst>
          </p:cNvPr>
          <p:cNvSpPr/>
          <p:nvPr/>
        </p:nvSpPr>
        <p:spPr>
          <a:xfrm>
            <a:off x="8833013" y="2902494"/>
            <a:ext cx="2908027" cy="2416762"/>
          </a:xfrm>
          <a:prstGeom prst="hexagon">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7" name="TextBox 36">
            <a:extLst>
              <a:ext uri="{FF2B5EF4-FFF2-40B4-BE49-F238E27FC236}">
                <a16:creationId xmlns:a16="http://schemas.microsoft.com/office/drawing/2014/main" id="{C9CCED88-8AFE-491E-A51F-B055DF192754}"/>
              </a:ext>
            </a:extLst>
          </p:cNvPr>
          <p:cNvSpPr txBox="1"/>
          <p:nvPr/>
        </p:nvSpPr>
        <p:spPr>
          <a:xfrm>
            <a:off x="6899876" y="1092291"/>
            <a:ext cx="1791138" cy="338554"/>
          </a:xfrm>
          <a:prstGeom prst="rect">
            <a:avLst/>
          </a:prstGeom>
          <a:noFill/>
        </p:spPr>
        <p:txBody>
          <a:bodyPr wrap="square" rtlCol="0">
            <a:spAutoFit/>
          </a:bodyPr>
          <a:lstStyle/>
          <a:p>
            <a:r>
              <a:rPr lang="en-US" sz="1600" dirty="0">
                <a:solidFill>
                  <a:srgbClr val="BC9876"/>
                </a:solidFill>
                <a:latin typeface="Arial Black" panose="020B0A04020102020204" pitchFamily="34" charset="0"/>
              </a:rPr>
              <a:t>LIMITATIONS</a:t>
            </a:r>
          </a:p>
        </p:txBody>
      </p:sp>
      <p:sp>
        <p:nvSpPr>
          <p:cNvPr id="39" name="TextBox 38">
            <a:extLst>
              <a:ext uri="{FF2B5EF4-FFF2-40B4-BE49-F238E27FC236}">
                <a16:creationId xmlns:a16="http://schemas.microsoft.com/office/drawing/2014/main" id="{8C3BDB5D-C10E-47C5-A5A5-78FB4CA9CAAA}"/>
              </a:ext>
            </a:extLst>
          </p:cNvPr>
          <p:cNvSpPr txBox="1"/>
          <p:nvPr/>
        </p:nvSpPr>
        <p:spPr>
          <a:xfrm>
            <a:off x="466067" y="2459626"/>
            <a:ext cx="6097772" cy="338554"/>
          </a:xfrm>
          <a:prstGeom prst="rect">
            <a:avLst/>
          </a:prstGeom>
          <a:noFill/>
        </p:spPr>
        <p:txBody>
          <a:bodyPr wrap="square">
            <a:spAutoFit/>
          </a:bodyPr>
          <a:lstStyle/>
          <a:p>
            <a:r>
              <a:rPr lang="en-PH" sz="1600" b="1" dirty="0">
                <a:solidFill>
                  <a:srgbClr val="494D56"/>
                </a:solidFill>
              </a:rPr>
              <a:t>Focus of Application</a:t>
            </a:r>
            <a:r>
              <a:rPr lang="en-PH" sz="1600" dirty="0">
                <a:solidFill>
                  <a:srgbClr val="494D56"/>
                </a:solidFill>
              </a:rPr>
              <a:t> </a:t>
            </a:r>
          </a:p>
        </p:txBody>
      </p:sp>
      <p:sp>
        <p:nvSpPr>
          <p:cNvPr id="41" name="TextBox 40">
            <a:extLst>
              <a:ext uri="{FF2B5EF4-FFF2-40B4-BE49-F238E27FC236}">
                <a16:creationId xmlns:a16="http://schemas.microsoft.com/office/drawing/2014/main" id="{9A737DF7-C0C3-4F60-8EC7-AC57BE9B5FD9}"/>
              </a:ext>
            </a:extLst>
          </p:cNvPr>
          <p:cNvSpPr txBox="1"/>
          <p:nvPr/>
        </p:nvSpPr>
        <p:spPr>
          <a:xfrm>
            <a:off x="450960" y="2865979"/>
            <a:ext cx="2387022" cy="646331"/>
          </a:xfrm>
          <a:prstGeom prst="rect">
            <a:avLst/>
          </a:prstGeom>
          <a:noFill/>
        </p:spPr>
        <p:txBody>
          <a:bodyPr wrap="square">
            <a:spAutoFit/>
          </a:bodyPr>
          <a:lstStyle/>
          <a:p>
            <a:r>
              <a:rPr lang="en-US" sz="1200" dirty="0"/>
              <a:t>Development of a web-based platform connecting communities in need with helpers.</a:t>
            </a:r>
            <a:endParaRPr lang="en-PH" sz="1200" dirty="0"/>
          </a:p>
        </p:txBody>
      </p:sp>
      <p:sp>
        <p:nvSpPr>
          <p:cNvPr id="43" name="TextBox 42">
            <a:extLst>
              <a:ext uri="{FF2B5EF4-FFF2-40B4-BE49-F238E27FC236}">
                <a16:creationId xmlns:a16="http://schemas.microsoft.com/office/drawing/2014/main" id="{8FF7D0FE-2EE6-478C-A69F-40F8C77B513E}"/>
              </a:ext>
            </a:extLst>
          </p:cNvPr>
          <p:cNvSpPr txBox="1"/>
          <p:nvPr/>
        </p:nvSpPr>
        <p:spPr>
          <a:xfrm>
            <a:off x="466067" y="4571059"/>
            <a:ext cx="6097772" cy="338554"/>
          </a:xfrm>
          <a:prstGeom prst="rect">
            <a:avLst/>
          </a:prstGeom>
          <a:noFill/>
        </p:spPr>
        <p:txBody>
          <a:bodyPr wrap="square">
            <a:spAutoFit/>
          </a:bodyPr>
          <a:lstStyle/>
          <a:p>
            <a:r>
              <a:rPr lang="en-PH" sz="1600" b="1" dirty="0">
                <a:solidFill>
                  <a:srgbClr val="494D56"/>
                </a:solidFill>
              </a:rPr>
              <a:t>Core Features</a:t>
            </a:r>
          </a:p>
        </p:txBody>
      </p:sp>
      <p:sp>
        <p:nvSpPr>
          <p:cNvPr id="45" name="TextBox 44">
            <a:extLst>
              <a:ext uri="{FF2B5EF4-FFF2-40B4-BE49-F238E27FC236}">
                <a16:creationId xmlns:a16="http://schemas.microsoft.com/office/drawing/2014/main" id="{F5619137-1DDC-497F-B3E1-BC0872CEF7AD}"/>
              </a:ext>
            </a:extLst>
          </p:cNvPr>
          <p:cNvSpPr txBox="1"/>
          <p:nvPr/>
        </p:nvSpPr>
        <p:spPr>
          <a:xfrm>
            <a:off x="462471" y="4909613"/>
            <a:ext cx="2465037" cy="1200329"/>
          </a:xfrm>
          <a:prstGeom prst="rect">
            <a:avLst/>
          </a:prstGeom>
          <a:noFill/>
        </p:spPr>
        <p:txBody>
          <a:bodyPr wrap="square">
            <a:spAutoFit/>
          </a:bodyPr>
          <a:lstStyle/>
          <a:p>
            <a:r>
              <a:rPr lang="en-US" sz="1200" dirty="0"/>
              <a:t>Verified representatives post requests for essential goods and medicines; helpers can search, filter, and coordinate aid. Includes request tracking, secure messaging, and transparency tools.</a:t>
            </a:r>
            <a:endParaRPr lang="en-PH" sz="1200" dirty="0"/>
          </a:p>
        </p:txBody>
      </p:sp>
      <p:sp>
        <p:nvSpPr>
          <p:cNvPr id="47" name="TextBox 46">
            <a:extLst>
              <a:ext uri="{FF2B5EF4-FFF2-40B4-BE49-F238E27FC236}">
                <a16:creationId xmlns:a16="http://schemas.microsoft.com/office/drawing/2014/main" id="{77A0A593-A7C6-4017-B7BD-9AB242B9C523}"/>
              </a:ext>
            </a:extLst>
          </p:cNvPr>
          <p:cNvSpPr txBox="1"/>
          <p:nvPr/>
        </p:nvSpPr>
        <p:spPr>
          <a:xfrm>
            <a:off x="3176888" y="2459625"/>
            <a:ext cx="6097772" cy="338554"/>
          </a:xfrm>
          <a:prstGeom prst="rect">
            <a:avLst/>
          </a:prstGeom>
          <a:noFill/>
        </p:spPr>
        <p:txBody>
          <a:bodyPr wrap="square">
            <a:spAutoFit/>
          </a:bodyPr>
          <a:lstStyle/>
          <a:p>
            <a:r>
              <a:rPr lang="en-PH" sz="1600" b="1" dirty="0">
                <a:solidFill>
                  <a:srgbClr val="494D56"/>
                </a:solidFill>
              </a:rPr>
              <a:t>Target Users</a:t>
            </a:r>
          </a:p>
        </p:txBody>
      </p:sp>
      <p:sp>
        <p:nvSpPr>
          <p:cNvPr id="49" name="TextBox 48">
            <a:extLst>
              <a:ext uri="{FF2B5EF4-FFF2-40B4-BE49-F238E27FC236}">
                <a16:creationId xmlns:a16="http://schemas.microsoft.com/office/drawing/2014/main" id="{3FD1D8B7-9F6C-4DEB-8A86-BDF62E7B1DCF}"/>
              </a:ext>
            </a:extLst>
          </p:cNvPr>
          <p:cNvSpPr txBox="1"/>
          <p:nvPr/>
        </p:nvSpPr>
        <p:spPr>
          <a:xfrm>
            <a:off x="3235805" y="2832650"/>
            <a:ext cx="2133637" cy="646331"/>
          </a:xfrm>
          <a:prstGeom prst="rect">
            <a:avLst/>
          </a:prstGeom>
          <a:noFill/>
        </p:spPr>
        <p:txBody>
          <a:bodyPr wrap="square">
            <a:spAutoFit/>
          </a:bodyPr>
          <a:lstStyle/>
          <a:p>
            <a:r>
              <a:rPr lang="en-US" sz="1200" dirty="0"/>
              <a:t>Barangays, orphanages, animal shelters, and vulnerable groups.</a:t>
            </a:r>
            <a:endParaRPr lang="en-PH" sz="1200" dirty="0"/>
          </a:p>
        </p:txBody>
      </p:sp>
      <p:sp>
        <p:nvSpPr>
          <p:cNvPr id="55" name="TextBox 54">
            <a:extLst>
              <a:ext uri="{FF2B5EF4-FFF2-40B4-BE49-F238E27FC236}">
                <a16:creationId xmlns:a16="http://schemas.microsoft.com/office/drawing/2014/main" id="{F9291F93-9E1A-471B-B25F-0D56AE42E87F}"/>
              </a:ext>
            </a:extLst>
          </p:cNvPr>
          <p:cNvSpPr txBox="1"/>
          <p:nvPr/>
        </p:nvSpPr>
        <p:spPr>
          <a:xfrm>
            <a:off x="3176888" y="4578515"/>
            <a:ext cx="6097772" cy="338554"/>
          </a:xfrm>
          <a:prstGeom prst="rect">
            <a:avLst/>
          </a:prstGeom>
          <a:noFill/>
        </p:spPr>
        <p:txBody>
          <a:bodyPr wrap="square">
            <a:spAutoFit/>
          </a:bodyPr>
          <a:lstStyle/>
          <a:p>
            <a:r>
              <a:rPr lang="en-PH" sz="1600" b="1" dirty="0">
                <a:solidFill>
                  <a:srgbClr val="494D56"/>
                </a:solidFill>
              </a:rPr>
              <a:t>Focus Area</a:t>
            </a:r>
          </a:p>
        </p:txBody>
      </p:sp>
      <p:sp>
        <p:nvSpPr>
          <p:cNvPr id="68" name="TextBox 67">
            <a:extLst>
              <a:ext uri="{FF2B5EF4-FFF2-40B4-BE49-F238E27FC236}">
                <a16:creationId xmlns:a16="http://schemas.microsoft.com/office/drawing/2014/main" id="{51FD0055-DBC4-47D8-AAC4-542BE94AE5F6}"/>
              </a:ext>
            </a:extLst>
          </p:cNvPr>
          <p:cNvSpPr txBox="1"/>
          <p:nvPr/>
        </p:nvSpPr>
        <p:spPr>
          <a:xfrm>
            <a:off x="3151687" y="4977005"/>
            <a:ext cx="2283332" cy="461665"/>
          </a:xfrm>
          <a:prstGeom prst="rect">
            <a:avLst/>
          </a:prstGeom>
          <a:noFill/>
        </p:spPr>
        <p:txBody>
          <a:bodyPr wrap="square">
            <a:spAutoFit/>
          </a:bodyPr>
          <a:lstStyle/>
          <a:p>
            <a:r>
              <a:rPr lang="en-US" sz="1200" dirty="0"/>
              <a:t>Tangible essentials only and community service volunteer.</a:t>
            </a:r>
            <a:endParaRPr lang="en-PH" sz="1200" dirty="0"/>
          </a:p>
        </p:txBody>
      </p:sp>
      <p:sp>
        <p:nvSpPr>
          <p:cNvPr id="69" name="TextBox 68">
            <a:extLst>
              <a:ext uri="{FF2B5EF4-FFF2-40B4-BE49-F238E27FC236}">
                <a16:creationId xmlns:a16="http://schemas.microsoft.com/office/drawing/2014/main" id="{70AD41D2-C2EF-4D37-8ED0-110FA7753ACE}"/>
              </a:ext>
            </a:extLst>
          </p:cNvPr>
          <p:cNvSpPr txBox="1"/>
          <p:nvPr/>
        </p:nvSpPr>
        <p:spPr>
          <a:xfrm>
            <a:off x="7317050" y="1758513"/>
            <a:ext cx="1873988" cy="338554"/>
          </a:xfrm>
          <a:prstGeom prst="rect">
            <a:avLst/>
          </a:prstGeom>
          <a:noFill/>
        </p:spPr>
        <p:txBody>
          <a:bodyPr wrap="square">
            <a:spAutoFit/>
          </a:bodyPr>
          <a:lstStyle/>
          <a:p>
            <a:r>
              <a:rPr lang="en-PH" sz="1600" b="1" dirty="0">
                <a:solidFill>
                  <a:srgbClr val="494D56"/>
                </a:solidFill>
              </a:rPr>
              <a:t>Financial</a:t>
            </a:r>
          </a:p>
        </p:txBody>
      </p:sp>
      <p:sp>
        <p:nvSpPr>
          <p:cNvPr id="70" name="TextBox 69">
            <a:extLst>
              <a:ext uri="{FF2B5EF4-FFF2-40B4-BE49-F238E27FC236}">
                <a16:creationId xmlns:a16="http://schemas.microsoft.com/office/drawing/2014/main" id="{56074D1C-08FE-473F-94F1-1D4CF71174B5}"/>
              </a:ext>
            </a:extLst>
          </p:cNvPr>
          <p:cNvSpPr txBox="1"/>
          <p:nvPr/>
        </p:nvSpPr>
        <p:spPr>
          <a:xfrm>
            <a:off x="6899876" y="2390412"/>
            <a:ext cx="1834175" cy="461665"/>
          </a:xfrm>
          <a:prstGeom prst="rect">
            <a:avLst/>
          </a:prstGeom>
          <a:noFill/>
        </p:spPr>
        <p:txBody>
          <a:bodyPr wrap="square">
            <a:spAutoFit/>
          </a:bodyPr>
          <a:lstStyle/>
          <a:p>
            <a:r>
              <a:rPr lang="en-US" sz="1200" dirty="0"/>
              <a:t>No monetary transactions or financial contributions.</a:t>
            </a:r>
            <a:endParaRPr lang="en-PH" dirty="0"/>
          </a:p>
        </p:txBody>
      </p:sp>
      <p:grpSp>
        <p:nvGrpSpPr>
          <p:cNvPr id="25" name="Group 24">
            <a:extLst>
              <a:ext uri="{FF2B5EF4-FFF2-40B4-BE49-F238E27FC236}">
                <a16:creationId xmlns:a16="http://schemas.microsoft.com/office/drawing/2014/main" id="{596143C9-A7EB-4ACF-AA86-42BF2573C8C9}"/>
              </a:ext>
            </a:extLst>
          </p:cNvPr>
          <p:cNvGrpSpPr/>
          <p:nvPr/>
        </p:nvGrpSpPr>
        <p:grpSpPr>
          <a:xfrm>
            <a:off x="6763637" y="4356675"/>
            <a:ext cx="6379753" cy="1427131"/>
            <a:chOff x="9316560" y="527514"/>
            <a:chExt cx="6379753" cy="1427131"/>
          </a:xfrm>
        </p:grpSpPr>
        <p:sp>
          <p:nvSpPr>
            <p:cNvPr id="71" name="TextBox 70">
              <a:extLst>
                <a:ext uri="{FF2B5EF4-FFF2-40B4-BE49-F238E27FC236}">
                  <a16:creationId xmlns:a16="http://schemas.microsoft.com/office/drawing/2014/main" id="{39D672AF-CA5A-448F-9830-A870DC848209}"/>
                </a:ext>
              </a:extLst>
            </p:cNvPr>
            <p:cNvSpPr txBox="1"/>
            <p:nvPr/>
          </p:nvSpPr>
          <p:spPr>
            <a:xfrm>
              <a:off x="9598541" y="527514"/>
              <a:ext cx="6097772" cy="338554"/>
            </a:xfrm>
            <a:prstGeom prst="rect">
              <a:avLst/>
            </a:prstGeom>
            <a:noFill/>
          </p:spPr>
          <p:txBody>
            <a:bodyPr wrap="square">
              <a:spAutoFit/>
            </a:bodyPr>
            <a:lstStyle/>
            <a:p>
              <a:r>
                <a:rPr lang="en-PH" sz="1600" b="1" dirty="0">
                  <a:solidFill>
                    <a:srgbClr val="494D56"/>
                  </a:solidFill>
                </a:rPr>
                <a:t>Data Accuracy</a:t>
              </a:r>
            </a:p>
          </p:txBody>
        </p:sp>
        <p:sp>
          <p:nvSpPr>
            <p:cNvPr id="72" name="TextBox 71">
              <a:extLst>
                <a:ext uri="{FF2B5EF4-FFF2-40B4-BE49-F238E27FC236}">
                  <a16:creationId xmlns:a16="http://schemas.microsoft.com/office/drawing/2014/main" id="{5D870252-3BBA-457F-BE48-01DE791D56CE}"/>
                </a:ext>
              </a:extLst>
            </p:cNvPr>
            <p:cNvSpPr txBox="1"/>
            <p:nvPr/>
          </p:nvSpPr>
          <p:spPr>
            <a:xfrm>
              <a:off x="9316560" y="1123648"/>
              <a:ext cx="1935111" cy="830997"/>
            </a:xfrm>
            <a:prstGeom prst="rect">
              <a:avLst/>
            </a:prstGeom>
            <a:noFill/>
          </p:spPr>
          <p:txBody>
            <a:bodyPr wrap="square">
              <a:spAutoFit/>
            </a:bodyPr>
            <a:lstStyle/>
            <a:p>
              <a:r>
                <a:rPr lang="en-US" sz="1200" dirty="0"/>
                <a:t>Relies on information from community representatives; delivery cannot be independently verified.</a:t>
              </a:r>
              <a:endParaRPr lang="en-PH" sz="1200" dirty="0"/>
            </a:p>
          </p:txBody>
        </p:sp>
      </p:grpSp>
      <p:sp>
        <p:nvSpPr>
          <p:cNvPr id="73" name="TextBox 72">
            <a:extLst>
              <a:ext uri="{FF2B5EF4-FFF2-40B4-BE49-F238E27FC236}">
                <a16:creationId xmlns:a16="http://schemas.microsoft.com/office/drawing/2014/main" id="{FD0BD3B3-857D-48FA-B414-E34C89AF1F58}"/>
              </a:ext>
            </a:extLst>
          </p:cNvPr>
          <p:cNvSpPr txBox="1"/>
          <p:nvPr/>
        </p:nvSpPr>
        <p:spPr>
          <a:xfrm>
            <a:off x="9779912" y="3133569"/>
            <a:ext cx="7846828" cy="369332"/>
          </a:xfrm>
          <a:prstGeom prst="rect">
            <a:avLst/>
          </a:prstGeom>
          <a:noFill/>
        </p:spPr>
        <p:txBody>
          <a:bodyPr wrap="square">
            <a:spAutoFit/>
          </a:bodyPr>
          <a:lstStyle/>
          <a:p>
            <a:r>
              <a:rPr lang="en-PH" sz="1600" b="1" dirty="0">
                <a:solidFill>
                  <a:srgbClr val="494D56"/>
                </a:solidFill>
              </a:rPr>
              <a:t>Technical</a:t>
            </a:r>
            <a:r>
              <a:rPr lang="en-PH" dirty="0"/>
              <a:t> </a:t>
            </a:r>
          </a:p>
        </p:txBody>
      </p:sp>
      <p:sp>
        <p:nvSpPr>
          <p:cNvPr id="74" name="TextBox 73">
            <a:extLst>
              <a:ext uri="{FF2B5EF4-FFF2-40B4-BE49-F238E27FC236}">
                <a16:creationId xmlns:a16="http://schemas.microsoft.com/office/drawing/2014/main" id="{D6552C96-FC2D-423D-AD11-B85B16EACF6A}"/>
              </a:ext>
            </a:extLst>
          </p:cNvPr>
          <p:cNvSpPr txBox="1"/>
          <p:nvPr/>
        </p:nvSpPr>
        <p:spPr>
          <a:xfrm>
            <a:off x="9203421" y="3743824"/>
            <a:ext cx="2133637" cy="646331"/>
          </a:xfrm>
          <a:prstGeom prst="rect">
            <a:avLst/>
          </a:prstGeom>
          <a:noFill/>
        </p:spPr>
        <p:txBody>
          <a:bodyPr wrap="square">
            <a:spAutoFit/>
          </a:bodyPr>
          <a:lstStyle/>
          <a:p>
            <a:r>
              <a:rPr lang="en-US" sz="1200" dirty="0"/>
              <a:t>Requires internet access and devices; limited participation in remote areas.</a:t>
            </a:r>
            <a:endParaRPr lang="en-PH" sz="1200" dirty="0"/>
          </a:p>
        </p:txBody>
      </p:sp>
      <p:sp>
        <p:nvSpPr>
          <p:cNvPr id="75" name="TextBox 74">
            <a:extLst>
              <a:ext uri="{FF2B5EF4-FFF2-40B4-BE49-F238E27FC236}">
                <a16:creationId xmlns:a16="http://schemas.microsoft.com/office/drawing/2014/main" id="{F2D35FC9-ED5C-4FDD-8C23-08A4276DA0F5}"/>
              </a:ext>
            </a:extLst>
          </p:cNvPr>
          <p:cNvSpPr txBox="1"/>
          <p:nvPr/>
        </p:nvSpPr>
        <p:spPr>
          <a:xfrm>
            <a:off x="363256" y="1927790"/>
            <a:ext cx="1331734" cy="338554"/>
          </a:xfrm>
          <a:prstGeom prst="rect">
            <a:avLst/>
          </a:prstGeom>
          <a:noFill/>
        </p:spPr>
        <p:txBody>
          <a:bodyPr wrap="square" rtlCol="0">
            <a:spAutoFit/>
          </a:bodyPr>
          <a:lstStyle/>
          <a:p>
            <a:r>
              <a:rPr lang="en-US" sz="1600" dirty="0">
                <a:solidFill>
                  <a:srgbClr val="262A36"/>
                </a:solidFill>
                <a:latin typeface="Arial Black" panose="020B0A04020102020204" pitchFamily="34" charset="0"/>
              </a:rPr>
              <a:t>SCOPE</a:t>
            </a:r>
          </a:p>
        </p:txBody>
      </p:sp>
    </p:spTree>
    <p:extLst>
      <p:ext uri="{BB962C8B-B14F-4D97-AF65-F5344CB8AC3E}">
        <p14:creationId xmlns:p14="http://schemas.microsoft.com/office/powerpoint/2010/main" val="3906300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83101971-C416-429C-863D-44BBA7493C16}"/>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rot="18114428">
            <a:off x="6222485" y="3793344"/>
            <a:ext cx="2053996" cy="1540497"/>
          </a:xfrm>
          <a:prstGeom prst="rect">
            <a:avLst/>
          </a:prstGeom>
        </p:spPr>
      </p:pic>
      <p:grpSp>
        <p:nvGrpSpPr>
          <p:cNvPr id="17" name="Group 16">
            <a:extLst>
              <a:ext uri="{FF2B5EF4-FFF2-40B4-BE49-F238E27FC236}">
                <a16:creationId xmlns:a16="http://schemas.microsoft.com/office/drawing/2014/main" id="{32991850-8AA6-4DF0-9F8E-9C83136A9759}"/>
              </a:ext>
            </a:extLst>
          </p:cNvPr>
          <p:cNvGrpSpPr/>
          <p:nvPr/>
        </p:nvGrpSpPr>
        <p:grpSpPr>
          <a:xfrm>
            <a:off x="5260885" y="-500229"/>
            <a:ext cx="7790998" cy="8552546"/>
            <a:chOff x="5352937" y="-830224"/>
            <a:chExt cx="7790998" cy="8552546"/>
          </a:xfrm>
        </p:grpSpPr>
        <p:pic>
          <p:nvPicPr>
            <p:cNvPr id="4" name="Picture 3">
              <a:extLst>
                <a:ext uri="{FF2B5EF4-FFF2-40B4-BE49-F238E27FC236}">
                  <a16:creationId xmlns:a16="http://schemas.microsoft.com/office/drawing/2014/main" id="{F7AD2D37-287B-4B00-9DE9-AB3D790E4040}"/>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rot="18168058">
              <a:off x="10500386" y="-107956"/>
              <a:ext cx="2261667" cy="1357000"/>
            </a:xfrm>
            <a:prstGeom prst="rect">
              <a:avLst/>
            </a:prstGeom>
          </p:spPr>
        </p:pic>
        <p:pic>
          <p:nvPicPr>
            <p:cNvPr id="8" name="Picture 7">
              <a:extLst>
                <a:ext uri="{FF2B5EF4-FFF2-40B4-BE49-F238E27FC236}">
                  <a16:creationId xmlns:a16="http://schemas.microsoft.com/office/drawing/2014/main" id="{52DC31E7-D9D5-49E2-A159-83C36A484F09}"/>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8209076">
              <a:off x="8539854" y="-258461"/>
              <a:ext cx="2613771" cy="1470246"/>
            </a:xfrm>
            <a:prstGeom prst="rect">
              <a:avLst/>
            </a:prstGeom>
          </p:spPr>
        </p:pic>
        <p:pic>
          <p:nvPicPr>
            <p:cNvPr id="10" name="Picture 9">
              <a:extLst>
                <a:ext uri="{FF2B5EF4-FFF2-40B4-BE49-F238E27FC236}">
                  <a16:creationId xmlns:a16="http://schemas.microsoft.com/office/drawing/2014/main" id="{3086A365-98C8-4951-9945-972A372CC27D}"/>
                </a:ext>
              </a:extLst>
            </p:cNvPr>
            <p:cNvPicPr>
              <a:picLocks noChangeAspect="1"/>
            </p:cNvPicPr>
            <p:nvPr/>
          </p:nvPicPr>
          <p:blipFill>
            <a:blip r:embed="rId5">
              <a:alphaModFix amt="20000"/>
              <a:extLst>
                <a:ext uri="{28A0092B-C50C-407E-A947-70E740481C1C}">
                  <a14:useLocalDpi xmlns:a14="http://schemas.microsoft.com/office/drawing/2010/main" val="0"/>
                </a:ext>
              </a:extLst>
            </a:blip>
            <a:stretch>
              <a:fillRect/>
            </a:stretch>
          </p:blipFill>
          <p:spPr>
            <a:xfrm rot="18180063">
              <a:off x="9429908" y="1757194"/>
              <a:ext cx="2029854" cy="1351397"/>
            </a:xfrm>
            <a:prstGeom prst="rect">
              <a:avLst/>
            </a:prstGeom>
          </p:spPr>
        </p:pic>
        <p:pic>
          <p:nvPicPr>
            <p:cNvPr id="14" name="Picture 13">
              <a:extLst>
                <a:ext uri="{FF2B5EF4-FFF2-40B4-BE49-F238E27FC236}">
                  <a16:creationId xmlns:a16="http://schemas.microsoft.com/office/drawing/2014/main" id="{17093FF4-0678-4699-994E-40D721A5B7E5}"/>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rot="18114428">
              <a:off x="11346689" y="1427776"/>
              <a:ext cx="2053996" cy="1540497"/>
            </a:xfrm>
            <a:prstGeom prst="rect">
              <a:avLst/>
            </a:prstGeom>
          </p:spPr>
        </p:pic>
        <p:pic>
          <p:nvPicPr>
            <p:cNvPr id="16" name="Picture 15">
              <a:extLst>
                <a:ext uri="{FF2B5EF4-FFF2-40B4-BE49-F238E27FC236}">
                  <a16:creationId xmlns:a16="http://schemas.microsoft.com/office/drawing/2014/main" id="{A63FDDE7-0590-4CED-BECC-8699F77C4DB4}"/>
                </a:ext>
              </a:extLst>
            </p:cNvPr>
            <p:cNvPicPr>
              <a:picLocks noChangeAspect="1"/>
            </p:cNvPicPr>
            <p:nvPr/>
          </p:nvPicPr>
          <p:blipFill>
            <a:blip r:embed="rId6">
              <a:alphaModFix amt="20000"/>
              <a:extLst>
                <a:ext uri="{28A0092B-C50C-407E-A947-70E740481C1C}">
                  <a14:useLocalDpi xmlns:a14="http://schemas.microsoft.com/office/drawing/2010/main" val="0"/>
                </a:ext>
              </a:extLst>
            </a:blip>
            <a:stretch>
              <a:fillRect/>
            </a:stretch>
          </p:blipFill>
          <p:spPr>
            <a:xfrm rot="18103047">
              <a:off x="9973365" y="3376543"/>
              <a:ext cx="2384159" cy="1589439"/>
            </a:xfrm>
            <a:prstGeom prst="rect">
              <a:avLst/>
            </a:prstGeom>
          </p:spPr>
        </p:pic>
        <p:pic>
          <p:nvPicPr>
            <p:cNvPr id="43" name="Picture 42">
              <a:extLst>
                <a:ext uri="{FF2B5EF4-FFF2-40B4-BE49-F238E27FC236}">
                  <a16:creationId xmlns:a16="http://schemas.microsoft.com/office/drawing/2014/main" id="{99C5A91D-F981-4A4D-9F5F-4226C2F71925}"/>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rot="18168058">
              <a:off x="7312674" y="1976591"/>
              <a:ext cx="2261667" cy="1466383"/>
            </a:xfrm>
            <a:prstGeom prst="rect">
              <a:avLst/>
            </a:prstGeom>
          </p:spPr>
        </p:pic>
        <p:pic>
          <p:nvPicPr>
            <p:cNvPr id="45" name="Picture 44">
              <a:extLst>
                <a:ext uri="{FF2B5EF4-FFF2-40B4-BE49-F238E27FC236}">
                  <a16:creationId xmlns:a16="http://schemas.microsoft.com/office/drawing/2014/main" id="{B9A2F1EE-0E4D-4F45-8A2E-B6447CDF6B2B}"/>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rot="18209076">
              <a:off x="7835309" y="3705550"/>
              <a:ext cx="2613771" cy="1470246"/>
            </a:xfrm>
            <a:prstGeom prst="rect">
              <a:avLst/>
            </a:prstGeom>
          </p:spPr>
        </p:pic>
        <p:pic>
          <p:nvPicPr>
            <p:cNvPr id="47" name="Picture 46">
              <a:extLst>
                <a:ext uri="{FF2B5EF4-FFF2-40B4-BE49-F238E27FC236}">
                  <a16:creationId xmlns:a16="http://schemas.microsoft.com/office/drawing/2014/main" id="{D5F1C8DD-5151-4E50-89BF-CDD81C74F937}"/>
                </a:ext>
              </a:extLst>
            </p:cNvPr>
            <p:cNvPicPr>
              <a:picLocks noChangeAspect="1"/>
            </p:cNvPicPr>
            <p:nvPr/>
          </p:nvPicPr>
          <p:blipFill>
            <a:blip r:embed="rId5">
              <a:alphaModFix amt="20000"/>
              <a:extLst>
                <a:ext uri="{28A0092B-C50C-407E-A947-70E740481C1C}">
                  <a14:useLocalDpi xmlns:a14="http://schemas.microsoft.com/office/drawing/2010/main" val="0"/>
                </a:ext>
              </a:extLst>
            </a:blip>
            <a:stretch>
              <a:fillRect/>
            </a:stretch>
          </p:blipFill>
          <p:spPr>
            <a:xfrm rot="18180063">
              <a:off x="8893037" y="5418391"/>
              <a:ext cx="2029854" cy="1351397"/>
            </a:xfrm>
            <a:prstGeom prst="rect">
              <a:avLst/>
            </a:prstGeom>
          </p:spPr>
        </p:pic>
        <p:pic>
          <p:nvPicPr>
            <p:cNvPr id="48" name="Picture 47">
              <a:extLst>
                <a:ext uri="{FF2B5EF4-FFF2-40B4-BE49-F238E27FC236}">
                  <a16:creationId xmlns:a16="http://schemas.microsoft.com/office/drawing/2014/main" id="{0A9CB3D8-F77E-43CD-A5E0-6180B7E67902}"/>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rot="18168058">
              <a:off x="6655359" y="5912989"/>
              <a:ext cx="2261667" cy="1357000"/>
            </a:xfrm>
            <a:prstGeom prst="rect">
              <a:avLst/>
            </a:prstGeom>
          </p:spPr>
        </p:pic>
        <p:pic>
          <p:nvPicPr>
            <p:cNvPr id="49" name="Picture 48">
              <a:extLst>
                <a:ext uri="{FF2B5EF4-FFF2-40B4-BE49-F238E27FC236}">
                  <a16:creationId xmlns:a16="http://schemas.microsoft.com/office/drawing/2014/main" id="{F5F2CF6F-0A86-441A-8D34-0CE3A7515198}"/>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rot="18114428">
              <a:off x="5096188" y="5599548"/>
              <a:ext cx="2053996" cy="1540497"/>
            </a:xfrm>
            <a:prstGeom prst="rect">
              <a:avLst/>
            </a:prstGeom>
          </p:spPr>
        </p:pic>
      </p:grpSp>
      <p:sp>
        <p:nvSpPr>
          <p:cNvPr id="6" name="Rectangle: Rounded Corners 5">
            <a:extLst>
              <a:ext uri="{FF2B5EF4-FFF2-40B4-BE49-F238E27FC236}">
                <a16:creationId xmlns:a16="http://schemas.microsoft.com/office/drawing/2014/main" id="{090F60FF-FCEB-4315-A6A4-53DA070DC84C}"/>
              </a:ext>
            </a:extLst>
          </p:cNvPr>
          <p:cNvSpPr/>
          <p:nvPr/>
        </p:nvSpPr>
        <p:spPr>
          <a:xfrm>
            <a:off x="412864" y="278099"/>
            <a:ext cx="2663468" cy="253916"/>
          </a:xfrm>
          <a:prstGeom prst="roundRect">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extBox 6">
            <a:extLst>
              <a:ext uri="{FF2B5EF4-FFF2-40B4-BE49-F238E27FC236}">
                <a16:creationId xmlns:a16="http://schemas.microsoft.com/office/drawing/2014/main" id="{414A6C77-3DBF-4AB2-BC7C-92DE23BD43C4}"/>
              </a:ext>
            </a:extLst>
          </p:cNvPr>
          <p:cNvSpPr txBox="1"/>
          <p:nvPr/>
        </p:nvSpPr>
        <p:spPr>
          <a:xfrm>
            <a:off x="726883" y="278099"/>
            <a:ext cx="2863249" cy="253916"/>
          </a:xfrm>
          <a:prstGeom prst="rect">
            <a:avLst/>
          </a:prstGeom>
          <a:noFill/>
        </p:spPr>
        <p:txBody>
          <a:bodyPr wrap="square" rtlCol="0">
            <a:spAutoFit/>
          </a:bodyPr>
          <a:lstStyle/>
          <a:p>
            <a:r>
              <a:rPr lang="en-US" sz="1050" dirty="0"/>
              <a:t>1.5 – SIGNIFICANCE OF THE STUDY</a:t>
            </a:r>
            <a:endParaRPr lang="en-PH" sz="1050" dirty="0"/>
          </a:p>
        </p:txBody>
      </p:sp>
      <p:sp>
        <p:nvSpPr>
          <p:cNvPr id="2" name="Rectangle: Single Corner Rounded 1">
            <a:extLst>
              <a:ext uri="{FF2B5EF4-FFF2-40B4-BE49-F238E27FC236}">
                <a16:creationId xmlns:a16="http://schemas.microsoft.com/office/drawing/2014/main" id="{D4DD07E3-EECB-418E-9127-198E94F9949C}"/>
              </a:ext>
            </a:extLst>
          </p:cNvPr>
          <p:cNvSpPr/>
          <p:nvPr/>
        </p:nvSpPr>
        <p:spPr>
          <a:xfrm>
            <a:off x="0" y="1821696"/>
            <a:ext cx="12016596" cy="4430245"/>
          </a:xfrm>
          <a:prstGeom prst="round1Rect">
            <a:avLst/>
          </a:prstGeom>
          <a:solidFill>
            <a:srgbClr val="434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cxnSp>
        <p:nvCxnSpPr>
          <p:cNvPr id="40" name="Straight Connector 39">
            <a:extLst>
              <a:ext uri="{FF2B5EF4-FFF2-40B4-BE49-F238E27FC236}">
                <a16:creationId xmlns:a16="http://schemas.microsoft.com/office/drawing/2014/main" id="{6E10DCE8-A8BA-4E78-B0E5-A4A154383572}"/>
              </a:ext>
            </a:extLst>
          </p:cNvPr>
          <p:cNvCxnSpPr>
            <a:cxnSpLocks/>
          </p:cNvCxnSpPr>
          <p:nvPr/>
        </p:nvCxnSpPr>
        <p:spPr>
          <a:xfrm>
            <a:off x="5985227" y="2147266"/>
            <a:ext cx="0" cy="3647478"/>
          </a:xfrm>
          <a:prstGeom prst="line">
            <a:avLst/>
          </a:prstGeom>
          <a:ln>
            <a:solidFill>
              <a:srgbClr val="BC9876"/>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714DB199-F8B5-4F47-9190-98C0559E119E}"/>
              </a:ext>
            </a:extLst>
          </p:cNvPr>
          <p:cNvGrpSpPr/>
          <p:nvPr/>
        </p:nvGrpSpPr>
        <p:grpSpPr>
          <a:xfrm>
            <a:off x="2622987" y="1106861"/>
            <a:ext cx="10326020" cy="523220"/>
            <a:chOff x="412864" y="775257"/>
            <a:chExt cx="10326020" cy="523220"/>
          </a:xfrm>
        </p:grpSpPr>
        <p:sp>
          <p:nvSpPr>
            <p:cNvPr id="38" name="TextBox 37">
              <a:extLst>
                <a:ext uri="{FF2B5EF4-FFF2-40B4-BE49-F238E27FC236}">
                  <a16:creationId xmlns:a16="http://schemas.microsoft.com/office/drawing/2014/main" id="{60E1D6B6-1F36-47FE-AFE9-6F9A8D8CCAB4}"/>
                </a:ext>
              </a:extLst>
            </p:cNvPr>
            <p:cNvSpPr txBox="1"/>
            <p:nvPr/>
          </p:nvSpPr>
          <p:spPr>
            <a:xfrm>
              <a:off x="412864" y="775257"/>
              <a:ext cx="8785748" cy="461665"/>
            </a:xfrm>
            <a:prstGeom prst="rect">
              <a:avLst/>
            </a:prstGeom>
            <a:noFill/>
          </p:spPr>
          <p:txBody>
            <a:bodyPr wrap="square">
              <a:spAutoFit/>
            </a:bodyPr>
            <a:lstStyle/>
            <a:p>
              <a:r>
                <a:rPr lang="en-PH" sz="1200" dirty="0">
                  <a:solidFill>
                    <a:srgbClr val="434E60"/>
                  </a:solidFill>
                  <a:latin typeface="Arial Narrow" panose="020B0606020202030204" pitchFamily="34" charset="0"/>
                </a:rPr>
                <a:t>This study is significant because it introduces a web-based application that directly improves how communities request and receive essential goods, medicines, and community service volunteers.</a:t>
              </a:r>
            </a:p>
          </p:txBody>
        </p:sp>
        <p:cxnSp>
          <p:nvCxnSpPr>
            <p:cNvPr id="42" name="Straight Connector 41">
              <a:extLst>
                <a:ext uri="{FF2B5EF4-FFF2-40B4-BE49-F238E27FC236}">
                  <a16:creationId xmlns:a16="http://schemas.microsoft.com/office/drawing/2014/main" id="{E4153D63-CE84-4C00-933D-251037CE788B}"/>
                </a:ext>
              </a:extLst>
            </p:cNvPr>
            <p:cNvCxnSpPr>
              <a:cxnSpLocks/>
            </p:cNvCxnSpPr>
            <p:nvPr/>
          </p:nvCxnSpPr>
          <p:spPr>
            <a:xfrm>
              <a:off x="519190" y="1298477"/>
              <a:ext cx="10219694" cy="0"/>
            </a:xfrm>
            <a:prstGeom prst="line">
              <a:avLst/>
            </a:prstGeom>
            <a:ln>
              <a:solidFill>
                <a:srgbClr val="434E60"/>
              </a:solidFill>
            </a:ln>
          </p:spPr>
          <p:style>
            <a:lnRef idx="1">
              <a:schemeClr val="accent1"/>
            </a:lnRef>
            <a:fillRef idx="0">
              <a:schemeClr val="accent1"/>
            </a:fillRef>
            <a:effectRef idx="0">
              <a:schemeClr val="accent1"/>
            </a:effectRef>
            <a:fontRef idx="minor">
              <a:schemeClr val="tx1"/>
            </a:fontRef>
          </p:style>
        </p:cxnSp>
      </p:grpSp>
      <p:sp>
        <p:nvSpPr>
          <p:cNvPr id="44" name="TextBox 43">
            <a:extLst>
              <a:ext uri="{FF2B5EF4-FFF2-40B4-BE49-F238E27FC236}">
                <a16:creationId xmlns:a16="http://schemas.microsoft.com/office/drawing/2014/main" id="{99DD70E8-9739-4567-93B4-E95EECD4DD2A}"/>
              </a:ext>
            </a:extLst>
          </p:cNvPr>
          <p:cNvSpPr txBox="1"/>
          <p:nvPr/>
        </p:nvSpPr>
        <p:spPr>
          <a:xfrm>
            <a:off x="18011" y="2060968"/>
            <a:ext cx="3652315" cy="338554"/>
          </a:xfrm>
          <a:prstGeom prst="rect">
            <a:avLst/>
          </a:prstGeom>
          <a:noFill/>
        </p:spPr>
        <p:txBody>
          <a:bodyPr wrap="square" rtlCol="0">
            <a:spAutoFit/>
          </a:bodyPr>
          <a:lstStyle/>
          <a:p>
            <a:r>
              <a:rPr lang="en-US" sz="1600" dirty="0">
                <a:solidFill>
                  <a:srgbClr val="BC9876"/>
                </a:solidFill>
                <a:latin typeface="Arial Black" panose="020B0A04020102020204" pitchFamily="34" charset="0"/>
              </a:rPr>
              <a:t>DIRECT BENEFICIARIES</a:t>
            </a:r>
          </a:p>
        </p:txBody>
      </p:sp>
      <p:sp>
        <p:nvSpPr>
          <p:cNvPr id="50" name="TextBox 49">
            <a:extLst>
              <a:ext uri="{FF2B5EF4-FFF2-40B4-BE49-F238E27FC236}">
                <a16:creationId xmlns:a16="http://schemas.microsoft.com/office/drawing/2014/main" id="{0D371208-07AA-4E8B-B74C-85B938C1E54F}"/>
              </a:ext>
            </a:extLst>
          </p:cNvPr>
          <p:cNvSpPr txBox="1"/>
          <p:nvPr/>
        </p:nvSpPr>
        <p:spPr>
          <a:xfrm>
            <a:off x="455492" y="662900"/>
            <a:ext cx="4334991" cy="954107"/>
          </a:xfrm>
          <a:prstGeom prst="rect">
            <a:avLst/>
          </a:prstGeom>
          <a:noFill/>
        </p:spPr>
        <p:txBody>
          <a:bodyPr wrap="square" rtlCol="0">
            <a:spAutoFit/>
          </a:bodyPr>
          <a:lstStyle/>
          <a:p>
            <a:r>
              <a:rPr lang="en-US" sz="2800" dirty="0">
                <a:solidFill>
                  <a:srgbClr val="434E60"/>
                </a:solidFill>
                <a:latin typeface="Arial Black" panose="020B0A04020102020204" pitchFamily="34" charset="0"/>
              </a:rPr>
              <a:t>WHY THIS STUDY</a:t>
            </a:r>
          </a:p>
          <a:p>
            <a:r>
              <a:rPr lang="en-US" sz="2800" dirty="0">
                <a:solidFill>
                  <a:srgbClr val="434E60"/>
                </a:solidFill>
                <a:latin typeface="Arial Black" panose="020B0A04020102020204" pitchFamily="34" charset="0"/>
              </a:rPr>
              <a:t>MATTERS</a:t>
            </a:r>
            <a:endParaRPr lang="en-PH" sz="2800" dirty="0">
              <a:solidFill>
                <a:srgbClr val="434E60"/>
              </a:solidFill>
              <a:latin typeface="Arial Black" panose="020B0A04020102020204" pitchFamily="34" charset="0"/>
            </a:endParaRPr>
          </a:p>
        </p:txBody>
      </p:sp>
      <p:grpSp>
        <p:nvGrpSpPr>
          <p:cNvPr id="20" name="Group 19">
            <a:extLst>
              <a:ext uri="{FF2B5EF4-FFF2-40B4-BE49-F238E27FC236}">
                <a16:creationId xmlns:a16="http://schemas.microsoft.com/office/drawing/2014/main" id="{26377E84-C40D-46EE-8BCE-BD83694FB340}"/>
              </a:ext>
            </a:extLst>
          </p:cNvPr>
          <p:cNvGrpSpPr/>
          <p:nvPr/>
        </p:nvGrpSpPr>
        <p:grpSpPr>
          <a:xfrm>
            <a:off x="411156" y="2572134"/>
            <a:ext cx="345561" cy="2520130"/>
            <a:chOff x="411156" y="2572134"/>
            <a:chExt cx="345561" cy="2520130"/>
          </a:xfrm>
        </p:grpSpPr>
        <p:sp>
          <p:nvSpPr>
            <p:cNvPr id="13" name="Rectangle: Rounded Corners 12">
              <a:extLst>
                <a:ext uri="{FF2B5EF4-FFF2-40B4-BE49-F238E27FC236}">
                  <a16:creationId xmlns:a16="http://schemas.microsoft.com/office/drawing/2014/main" id="{05F51ED7-F7B8-4420-B0AB-B65EACBE1BD8}"/>
                </a:ext>
              </a:extLst>
            </p:cNvPr>
            <p:cNvSpPr/>
            <p:nvPr/>
          </p:nvSpPr>
          <p:spPr>
            <a:xfrm>
              <a:off x="411156" y="2572134"/>
              <a:ext cx="345329" cy="334554"/>
            </a:xfrm>
            <a:prstGeom prst="roundRect">
              <a:avLst/>
            </a:prstGeom>
            <a:solidFill>
              <a:srgbClr val="8B9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PH" dirty="0"/>
            </a:p>
          </p:txBody>
        </p:sp>
        <p:sp>
          <p:nvSpPr>
            <p:cNvPr id="51" name="Rectangle: Rounded Corners 50">
              <a:extLst>
                <a:ext uri="{FF2B5EF4-FFF2-40B4-BE49-F238E27FC236}">
                  <a16:creationId xmlns:a16="http://schemas.microsoft.com/office/drawing/2014/main" id="{01DE5589-FD54-44F0-B51C-3311593B25CB}"/>
                </a:ext>
              </a:extLst>
            </p:cNvPr>
            <p:cNvSpPr/>
            <p:nvPr/>
          </p:nvSpPr>
          <p:spPr>
            <a:xfrm>
              <a:off x="411156" y="3637522"/>
              <a:ext cx="345329" cy="334554"/>
            </a:xfrm>
            <a:prstGeom prst="roundRect">
              <a:avLst/>
            </a:prstGeom>
            <a:solidFill>
              <a:srgbClr val="8B9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PH" dirty="0"/>
            </a:p>
          </p:txBody>
        </p:sp>
        <p:sp>
          <p:nvSpPr>
            <p:cNvPr id="52" name="Rectangle: Rounded Corners 51">
              <a:extLst>
                <a:ext uri="{FF2B5EF4-FFF2-40B4-BE49-F238E27FC236}">
                  <a16:creationId xmlns:a16="http://schemas.microsoft.com/office/drawing/2014/main" id="{A27583A2-6ABF-4AF8-9EDA-17ED909146D5}"/>
                </a:ext>
              </a:extLst>
            </p:cNvPr>
            <p:cNvSpPr/>
            <p:nvPr/>
          </p:nvSpPr>
          <p:spPr>
            <a:xfrm>
              <a:off x="411388" y="4757710"/>
              <a:ext cx="345329" cy="334554"/>
            </a:xfrm>
            <a:prstGeom prst="roundRect">
              <a:avLst/>
            </a:prstGeom>
            <a:solidFill>
              <a:srgbClr val="8B9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PH" dirty="0"/>
            </a:p>
          </p:txBody>
        </p:sp>
      </p:grpSp>
      <p:sp>
        <p:nvSpPr>
          <p:cNvPr id="54" name="TextBox 53">
            <a:extLst>
              <a:ext uri="{FF2B5EF4-FFF2-40B4-BE49-F238E27FC236}">
                <a16:creationId xmlns:a16="http://schemas.microsoft.com/office/drawing/2014/main" id="{B2EB2640-A324-426E-905A-F4E6059DECAD}"/>
              </a:ext>
            </a:extLst>
          </p:cNvPr>
          <p:cNvSpPr txBox="1"/>
          <p:nvPr/>
        </p:nvSpPr>
        <p:spPr>
          <a:xfrm>
            <a:off x="756485" y="2572134"/>
            <a:ext cx="1401920" cy="338554"/>
          </a:xfrm>
          <a:prstGeom prst="rect">
            <a:avLst/>
          </a:prstGeom>
          <a:noFill/>
        </p:spPr>
        <p:txBody>
          <a:bodyPr wrap="square">
            <a:spAutoFit/>
          </a:bodyPr>
          <a:lstStyle/>
          <a:p>
            <a:r>
              <a:rPr lang="en-PH" sz="1600" b="1" dirty="0">
                <a:solidFill>
                  <a:schemeClr val="bg1"/>
                </a:solidFill>
              </a:rPr>
              <a:t>Communities</a:t>
            </a:r>
          </a:p>
        </p:txBody>
      </p:sp>
      <p:sp>
        <p:nvSpPr>
          <p:cNvPr id="56" name="TextBox 55">
            <a:extLst>
              <a:ext uri="{FF2B5EF4-FFF2-40B4-BE49-F238E27FC236}">
                <a16:creationId xmlns:a16="http://schemas.microsoft.com/office/drawing/2014/main" id="{79ACB55A-E590-4A71-8A49-28DC80599954}"/>
              </a:ext>
            </a:extLst>
          </p:cNvPr>
          <p:cNvSpPr txBox="1"/>
          <p:nvPr/>
        </p:nvSpPr>
        <p:spPr>
          <a:xfrm>
            <a:off x="788616" y="2839043"/>
            <a:ext cx="5219682" cy="461665"/>
          </a:xfrm>
          <a:prstGeom prst="rect">
            <a:avLst/>
          </a:prstGeom>
          <a:noFill/>
        </p:spPr>
        <p:txBody>
          <a:bodyPr wrap="square">
            <a:spAutoFit/>
          </a:bodyPr>
          <a:lstStyle/>
          <a:p>
            <a:r>
              <a:rPr lang="en-PH" sz="1200" dirty="0">
                <a:solidFill>
                  <a:schemeClr val="bg1"/>
                </a:solidFill>
                <a:effectLst/>
                <a:latin typeface="Calibri" panose="020F0502020204030204" pitchFamily="34" charset="0"/>
                <a:ea typeface="Calibri" panose="020F0502020204030204" pitchFamily="34" charset="0"/>
              </a:rPr>
              <a:t>Gain a structured way to request and receive essential goods and medicines, reducing delays and confusion during emergencies.</a:t>
            </a:r>
            <a:endParaRPr lang="en-PH" sz="1200" dirty="0">
              <a:solidFill>
                <a:schemeClr val="bg1"/>
              </a:solidFill>
            </a:endParaRPr>
          </a:p>
        </p:txBody>
      </p:sp>
      <p:sp>
        <p:nvSpPr>
          <p:cNvPr id="57" name="TextBox 56">
            <a:extLst>
              <a:ext uri="{FF2B5EF4-FFF2-40B4-BE49-F238E27FC236}">
                <a16:creationId xmlns:a16="http://schemas.microsoft.com/office/drawing/2014/main" id="{FF494D58-B1B3-4536-8CB2-072D9B622349}"/>
              </a:ext>
            </a:extLst>
          </p:cNvPr>
          <p:cNvSpPr txBox="1"/>
          <p:nvPr/>
        </p:nvSpPr>
        <p:spPr>
          <a:xfrm>
            <a:off x="788616" y="3613825"/>
            <a:ext cx="6496492" cy="338554"/>
          </a:xfrm>
          <a:prstGeom prst="rect">
            <a:avLst/>
          </a:prstGeom>
          <a:noFill/>
        </p:spPr>
        <p:txBody>
          <a:bodyPr wrap="square">
            <a:spAutoFit/>
          </a:bodyPr>
          <a:lstStyle/>
          <a:p>
            <a:r>
              <a:rPr lang="en-PH" sz="1600" b="1" dirty="0">
                <a:solidFill>
                  <a:schemeClr val="bg1"/>
                </a:solidFill>
              </a:rPr>
              <a:t>Community Leaders and Representatives</a:t>
            </a:r>
          </a:p>
        </p:txBody>
      </p:sp>
      <p:sp>
        <p:nvSpPr>
          <p:cNvPr id="58" name="TextBox 57">
            <a:extLst>
              <a:ext uri="{FF2B5EF4-FFF2-40B4-BE49-F238E27FC236}">
                <a16:creationId xmlns:a16="http://schemas.microsoft.com/office/drawing/2014/main" id="{4E80A6A6-1161-4B32-B08C-2931DAF3D264}"/>
              </a:ext>
            </a:extLst>
          </p:cNvPr>
          <p:cNvSpPr txBox="1"/>
          <p:nvPr/>
        </p:nvSpPr>
        <p:spPr>
          <a:xfrm>
            <a:off x="788616" y="3927954"/>
            <a:ext cx="5080555" cy="461665"/>
          </a:xfrm>
          <a:prstGeom prst="rect">
            <a:avLst/>
          </a:prstGeom>
          <a:noFill/>
        </p:spPr>
        <p:txBody>
          <a:bodyPr wrap="square">
            <a:spAutoFit/>
          </a:bodyPr>
          <a:lstStyle/>
          <a:p>
            <a:r>
              <a:rPr lang="en-PH" sz="1200" dirty="0">
                <a:solidFill>
                  <a:schemeClr val="bg1"/>
                </a:solidFill>
                <a:effectLst/>
                <a:latin typeface="Calibri" panose="020F0502020204030204" pitchFamily="34" charset="0"/>
                <a:ea typeface="Calibri" panose="020F0502020204030204" pitchFamily="34" charset="0"/>
              </a:rPr>
              <a:t>Benefit from an organized system to post verified requests, track fulfillment, and coordinate with helpers, </a:t>
            </a:r>
            <a:r>
              <a:rPr lang="en-PH" sz="1200" dirty="0">
                <a:solidFill>
                  <a:schemeClr val="bg1"/>
                </a:solidFill>
              </a:rPr>
              <a:t>minimizing</a:t>
            </a:r>
            <a:r>
              <a:rPr lang="en-PH" sz="1200" dirty="0">
                <a:solidFill>
                  <a:schemeClr val="bg1"/>
                </a:solidFill>
                <a:effectLst/>
                <a:latin typeface="Calibri" panose="020F0502020204030204" pitchFamily="34" charset="0"/>
                <a:ea typeface="Calibri" panose="020F0502020204030204" pitchFamily="34" charset="0"/>
              </a:rPr>
              <a:t> duplication of aid and logistical errors.</a:t>
            </a:r>
            <a:endParaRPr lang="en-PH" sz="1200" dirty="0">
              <a:solidFill>
                <a:schemeClr val="bg1"/>
              </a:solidFill>
            </a:endParaRPr>
          </a:p>
        </p:txBody>
      </p:sp>
      <p:sp>
        <p:nvSpPr>
          <p:cNvPr id="60" name="TextBox 59">
            <a:extLst>
              <a:ext uri="{FF2B5EF4-FFF2-40B4-BE49-F238E27FC236}">
                <a16:creationId xmlns:a16="http://schemas.microsoft.com/office/drawing/2014/main" id="{1977EA35-FEF7-45FA-8727-D6E3A804647B}"/>
              </a:ext>
            </a:extLst>
          </p:cNvPr>
          <p:cNvSpPr txBox="1"/>
          <p:nvPr/>
        </p:nvSpPr>
        <p:spPr>
          <a:xfrm>
            <a:off x="788616" y="4738013"/>
            <a:ext cx="6496492" cy="338554"/>
          </a:xfrm>
          <a:prstGeom prst="rect">
            <a:avLst/>
          </a:prstGeom>
          <a:noFill/>
        </p:spPr>
        <p:txBody>
          <a:bodyPr wrap="square">
            <a:spAutoFit/>
          </a:bodyPr>
          <a:lstStyle/>
          <a:p>
            <a:r>
              <a:rPr lang="en-PH" sz="1600" b="1" dirty="0">
                <a:solidFill>
                  <a:schemeClr val="bg1"/>
                </a:solidFill>
              </a:rPr>
              <a:t>Helpers and Volunteers</a:t>
            </a:r>
          </a:p>
        </p:txBody>
      </p:sp>
      <p:sp>
        <p:nvSpPr>
          <p:cNvPr id="62" name="TextBox 61">
            <a:extLst>
              <a:ext uri="{FF2B5EF4-FFF2-40B4-BE49-F238E27FC236}">
                <a16:creationId xmlns:a16="http://schemas.microsoft.com/office/drawing/2014/main" id="{15FDE1A5-B1EA-4004-B771-E429C58348A7}"/>
              </a:ext>
            </a:extLst>
          </p:cNvPr>
          <p:cNvSpPr txBox="1"/>
          <p:nvPr/>
        </p:nvSpPr>
        <p:spPr>
          <a:xfrm>
            <a:off x="788616" y="5025771"/>
            <a:ext cx="5080551" cy="646331"/>
          </a:xfrm>
          <a:prstGeom prst="rect">
            <a:avLst/>
          </a:prstGeom>
          <a:noFill/>
        </p:spPr>
        <p:txBody>
          <a:bodyPr wrap="square">
            <a:spAutoFit/>
          </a:bodyPr>
          <a:lstStyle/>
          <a:p>
            <a:r>
              <a:rPr lang="en-PH" sz="1200" dirty="0">
                <a:solidFill>
                  <a:schemeClr val="bg1"/>
                </a:solidFill>
                <a:effectLst/>
                <a:latin typeface="Calibri" panose="020F0502020204030204" pitchFamily="34" charset="0"/>
                <a:ea typeface="Calibri" panose="020F0502020204030204" pitchFamily="34" charset="0"/>
              </a:rPr>
              <a:t>Have a reliable platform to identify urgent needs, connect directly with communities, and provide assistance with confidence that their contributions are reaching the intended recipients.</a:t>
            </a:r>
            <a:endParaRPr lang="en-PH" sz="1200" dirty="0">
              <a:solidFill>
                <a:schemeClr val="bg1"/>
              </a:solidFill>
            </a:endParaRPr>
          </a:p>
        </p:txBody>
      </p:sp>
      <p:sp>
        <p:nvSpPr>
          <p:cNvPr id="63" name="TextBox 62">
            <a:extLst>
              <a:ext uri="{FF2B5EF4-FFF2-40B4-BE49-F238E27FC236}">
                <a16:creationId xmlns:a16="http://schemas.microsoft.com/office/drawing/2014/main" id="{489562C8-902B-4AB3-8A6D-ACCD994C8BAD}"/>
              </a:ext>
            </a:extLst>
          </p:cNvPr>
          <p:cNvSpPr txBox="1"/>
          <p:nvPr/>
        </p:nvSpPr>
        <p:spPr>
          <a:xfrm>
            <a:off x="6123356" y="2064521"/>
            <a:ext cx="3652315" cy="338554"/>
          </a:xfrm>
          <a:prstGeom prst="rect">
            <a:avLst/>
          </a:prstGeom>
          <a:noFill/>
        </p:spPr>
        <p:txBody>
          <a:bodyPr wrap="square" rtlCol="0">
            <a:spAutoFit/>
          </a:bodyPr>
          <a:lstStyle/>
          <a:p>
            <a:r>
              <a:rPr lang="en-US" sz="1600" dirty="0">
                <a:solidFill>
                  <a:srgbClr val="BC9876"/>
                </a:solidFill>
                <a:latin typeface="Arial Black" panose="020B0A04020102020204" pitchFamily="34" charset="0"/>
              </a:rPr>
              <a:t>INDIRECT BENEFICIARIES</a:t>
            </a:r>
          </a:p>
        </p:txBody>
      </p:sp>
      <p:grpSp>
        <p:nvGrpSpPr>
          <p:cNvPr id="66" name="Group 65">
            <a:extLst>
              <a:ext uri="{FF2B5EF4-FFF2-40B4-BE49-F238E27FC236}">
                <a16:creationId xmlns:a16="http://schemas.microsoft.com/office/drawing/2014/main" id="{9FE040D6-4E7D-4A9F-9410-31064F0854AC}"/>
              </a:ext>
            </a:extLst>
          </p:cNvPr>
          <p:cNvGrpSpPr/>
          <p:nvPr/>
        </p:nvGrpSpPr>
        <p:grpSpPr>
          <a:xfrm>
            <a:off x="6346326" y="2572134"/>
            <a:ext cx="345561" cy="2520130"/>
            <a:chOff x="411156" y="2572134"/>
            <a:chExt cx="345561" cy="2520130"/>
          </a:xfrm>
        </p:grpSpPr>
        <p:sp>
          <p:nvSpPr>
            <p:cNvPr id="67" name="Rectangle: Rounded Corners 66">
              <a:extLst>
                <a:ext uri="{FF2B5EF4-FFF2-40B4-BE49-F238E27FC236}">
                  <a16:creationId xmlns:a16="http://schemas.microsoft.com/office/drawing/2014/main" id="{CCA39921-251C-47C8-85CD-35C2BFD30F68}"/>
                </a:ext>
              </a:extLst>
            </p:cNvPr>
            <p:cNvSpPr/>
            <p:nvPr/>
          </p:nvSpPr>
          <p:spPr>
            <a:xfrm>
              <a:off x="411156" y="2572134"/>
              <a:ext cx="345329" cy="334554"/>
            </a:xfrm>
            <a:prstGeom prst="roundRect">
              <a:avLst/>
            </a:prstGeom>
            <a:solidFill>
              <a:srgbClr val="8B9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PH" dirty="0"/>
            </a:p>
          </p:txBody>
        </p:sp>
        <p:sp>
          <p:nvSpPr>
            <p:cNvPr id="75" name="Rectangle: Rounded Corners 74">
              <a:extLst>
                <a:ext uri="{FF2B5EF4-FFF2-40B4-BE49-F238E27FC236}">
                  <a16:creationId xmlns:a16="http://schemas.microsoft.com/office/drawing/2014/main" id="{E519190E-9BA4-46CB-ACD9-AC7DB86AFF46}"/>
                </a:ext>
              </a:extLst>
            </p:cNvPr>
            <p:cNvSpPr/>
            <p:nvPr/>
          </p:nvSpPr>
          <p:spPr>
            <a:xfrm>
              <a:off x="411156" y="3637522"/>
              <a:ext cx="345329" cy="334554"/>
            </a:xfrm>
            <a:prstGeom prst="roundRect">
              <a:avLst/>
            </a:prstGeom>
            <a:solidFill>
              <a:srgbClr val="8B9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PH" dirty="0"/>
            </a:p>
          </p:txBody>
        </p:sp>
        <p:sp>
          <p:nvSpPr>
            <p:cNvPr id="76" name="Rectangle: Rounded Corners 75">
              <a:extLst>
                <a:ext uri="{FF2B5EF4-FFF2-40B4-BE49-F238E27FC236}">
                  <a16:creationId xmlns:a16="http://schemas.microsoft.com/office/drawing/2014/main" id="{EA9BF91E-C219-4903-A4F0-0B2DF9938302}"/>
                </a:ext>
              </a:extLst>
            </p:cNvPr>
            <p:cNvSpPr/>
            <p:nvPr/>
          </p:nvSpPr>
          <p:spPr>
            <a:xfrm>
              <a:off x="411388" y="4757710"/>
              <a:ext cx="345329" cy="334554"/>
            </a:xfrm>
            <a:prstGeom prst="roundRect">
              <a:avLst/>
            </a:prstGeom>
            <a:solidFill>
              <a:srgbClr val="8B9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PH" dirty="0"/>
            </a:p>
          </p:txBody>
        </p:sp>
      </p:grpSp>
      <p:sp>
        <p:nvSpPr>
          <p:cNvPr id="77" name="TextBox 76">
            <a:extLst>
              <a:ext uri="{FF2B5EF4-FFF2-40B4-BE49-F238E27FC236}">
                <a16:creationId xmlns:a16="http://schemas.microsoft.com/office/drawing/2014/main" id="{664D7094-10C0-4824-98A9-C9376964B7E0}"/>
              </a:ext>
            </a:extLst>
          </p:cNvPr>
          <p:cNvSpPr txBox="1"/>
          <p:nvPr/>
        </p:nvSpPr>
        <p:spPr>
          <a:xfrm>
            <a:off x="6691655" y="2575993"/>
            <a:ext cx="6496492" cy="338554"/>
          </a:xfrm>
          <a:prstGeom prst="rect">
            <a:avLst/>
          </a:prstGeom>
          <a:noFill/>
        </p:spPr>
        <p:txBody>
          <a:bodyPr wrap="square">
            <a:spAutoFit/>
          </a:bodyPr>
          <a:lstStyle/>
          <a:p>
            <a:r>
              <a:rPr lang="en-PH" sz="1600" b="1" dirty="0">
                <a:solidFill>
                  <a:schemeClr val="bg1"/>
                </a:solidFill>
              </a:rPr>
              <a:t>Local Communities and Barangays </a:t>
            </a:r>
          </a:p>
        </p:txBody>
      </p:sp>
      <p:sp>
        <p:nvSpPr>
          <p:cNvPr id="78" name="TextBox 77">
            <a:extLst>
              <a:ext uri="{FF2B5EF4-FFF2-40B4-BE49-F238E27FC236}">
                <a16:creationId xmlns:a16="http://schemas.microsoft.com/office/drawing/2014/main" id="{82B63BE3-C14D-4B13-8F4D-1E3043DAC0B4}"/>
              </a:ext>
            </a:extLst>
          </p:cNvPr>
          <p:cNvSpPr txBox="1"/>
          <p:nvPr/>
        </p:nvSpPr>
        <p:spPr>
          <a:xfrm>
            <a:off x="6691388" y="2849218"/>
            <a:ext cx="4834303" cy="461665"/>
          </a:xfrm>
          <a:prstGeom prst="rect">
            <a:avLst/>
          </a:prstGeom>
          <a:noFill/>
        </p:spPr>
        <p:txBody>
          <a:bodyPr wrap="square">
            <a:spAutoFit/>
          </a:bodyPr>
          <a:lstStyle/>
          <a:p>
            <a:r>
              <a:rPr lang="en-PH" sz="1200" dirty="0">
                <a:solidFill>
                  <a:schemeClr val="bg1"/>
                </a:solidFill>
                <a:effectLst/>
                <a:latin typeface="Calibri" panose="020F0502020204030204" pitchFamily="34" charset="0"/>
                <a:ea typeface="Calibri" panose="020F0502020204030204" pitchFamily="34" charset="0"/>
              </a:rPr>
              <a:t>Receive structured support during disasters and emergencies, improving resilience and recovery.</a:t>
            </a:r>
            <a:endParaRPr lang="en-PH" sz="1200" dirty="0">
              <a:solidFill>
                <a:schemeClr val="bg1"/>
              </a:solidFill>
            </a:endParaRPr>
          </a:p>
        </p:txBody>
      </p:sp>
      <p:sp>
        <p:nvSpPr>
          <p:cNvPr id="79" name="TextBox 78">
            <a:extLst>
              <a:ext uri="{FF2B5EF4-FFF2-40B4-BE49-F238E27FC236}">
                <a16:creationId xmlns:a16="http://schemas.microsoft.com/office/drawing/2014/main" id="{42D2544B-45D5-44C0-B773-3E4D7AE78267}"/>
              </a:ext>
            </a:extLst>
          </p:cNvPr>
          <p:cNvSpPr txBox="1"/>
          <p:nvPr/>
        </p:nvSpPr>
        <p:spPr>
          <a:xfrm>
            <a:off x="6699410" y="3606767"/>
            <a:ext cx="6602818" cy="338554"/>
          </a:xfrm>
          <a:prstGeom prst="rect">
            <a:avLst/>
          </a:prstGeom>
          <a:noFill/>
        </p:spPr>
        <p:txBody>
          <a:bodyPr wrap="square">
            <a:spAutoFit/>
          </a:bodyPr>
          <a:lstStyle/>
          <a:p>
            <a:r>
              <a:rPr lang="en-PH" sz="1600" b="1" dirty="0">
                <a:solidFill>
                  <a:schemeClr val="bg1"/>
                </a:solidFill>
              </a:rPr>
              <a:t>Donors and Volunteers </a:t>
            </a:r>
          </a:p>
        </p:txBody>
      </p:sp>
      <p:sp>
        <p:nvSpPr>
          <p:cNvPr id="80" name="TextBox 79">
            <a:extLst>
              <a:ext uri="{FF2B5EF4-FFF2-40B4-BE49-F238E27FC236}">
                <a16:creationId xmlns:a16="http://schemas.microsoft.com/office/drawing/2014/main" id="{401E573C-B69E-40AD-80AC-BF1AD7F2EEA3}"/>
              </a:ext>
            </a:extLst>
          </p:cNvPr>
          <p:cNvSpPr txBox="1"/>
          <p:nvPr/>
        </p:nvSpPr>
        <p:spPr>
          <a:xfrm>
            <a:off x="6691387" y="3893734"/>
            <a:ext cx="4929995" cy="461665"/>
          </a:xfrm>
          <a:prstGeom prst="rect">
            <a:avLst/>
          </a:prstGeom>
          <a:noFill/>
        </p:spPr>
        <p:txBody>
          <a:bodyPr wrap="square">
            <a:spAutoFit/>
          </a:bodyPr>
          <a:lstStyle/>
          <a:p>
            <a:r>
              <a:rPr lang="en-PH" sz="1200" dirty="0">
                <a:solidFill>
                  <a:schemeClr val="bg1"/>
                </a:solidFill>
                <a:effectLst/>
                <a:latin typeface="Calibri" panose="020F0502020204030204" pitchFamily="34" charset="0"/>
                <a:ea typeface="Calibri" panose="020F0502020204030204" pitchFamily="34" charset="0"/>
              </a:rPr>
              <a:t>Benefit from a reliable platform that assures their contributions reach verified recipients, encouraging continued participation in community aid.</a:t>
            </a:r>
            <a:endParaRPr lang="en-PH" sz="1200" dirty="0">
              <a:solidFill>
                <a:schemeClr val="bg1"/>
              </a:solidFill>
            </a:endParaRPr>
          </a:p>
        </p:txBody>
      </p:sp>
      <p:sp>
        <p:nvSpPr>
          <p:cNvPr id="81" name="TextBox 80">
            <a:extLst>
              <a:ext uri="{FF2B5EF4-FFF2-40B4-BE49-F238E27FC236}">
                <a16:creationId xmlns:a16="http://schemas.microsoft.com/office/drawing/2014/main" id="{834F96B9-4E36-403A-A4CE-7932D1E6BC5E}"/>
              </a:ext>
            </a:extLst>
          </p:cNvPr>
          <p:cNvSpPr txBox="1"/>
          <p:nvPr/>
        </p:nvSpPr>
        <p:spPr>
          <a:xfrm>
            <a:off x="6690317" y="4753710"/>
            <a:ext cx="6661296" cy="338554"/>
          </a:xfrm>
          <a:prstGeom prst="rect">
            <a:avLst/>
          </a:prstGeom>
          <a:noFill/>
        </p:spPr>
        <p:txBody>
          <a:bodyPr wrap="square">
            <a:spAutoFit/>
          </a:bodyPr>
          <a:lstStyle/>
          <a:p>
            <a:r>
              <a:rPr lang="en-PH" sz="1600" b="1" dirty="0">
                <a:solidFill>
                  <a:schemeClr val="bg1"/>
                </a:solidFill>
              </a:rPr>
              <a:t>Society at Large </a:t>
            </a:r>
          </a:p>
        </p:txBody>
      </p:sp>
      <p:sp>
        <p:nvSpPr>
          <p:cNvPr id="82" name="TextBox 81">
            <a:extLst>
              <a:ext uri="{FF2B5EF4-FFF2-40B4-BE49-F238E27FC236}">
                <a16:creationId xmlns:a16="http://schemas.microsoft.com/office/drawing/2014/main" id="{6AC0EEB6-4AD5-4C35-8A8E-1AF497C6AA30}"/>
              </a:ext>
            </a:extLst>
          </p:cNvPr>
          <p:cNvSpPr txBox="1"/>
          <p:nvPr/>
        </p:nvSpPr>
        <p:spPr>
          <a:xfrm>
            <a:off x="6684131" y="5010074"/>
            <a:ext cx="4841545" cy="646331"/>
          </a:xfrm>
          <a:prstGeom prst="rect">
            <a:avLst/>
          </a:prstGeom>
          <a:noFill/>
        </p:spPr>
        <p:txBody>
          <a:bodyPr wrap="square">
            <a:spAutoFit/>
          </a:bodyPr>
          <a:lstStyle/>
          <a:p>
            <a:r>
              <a:rPr lang="en-PH" sz="1200" dirty="0">
                <a:solidFill>
                  <a:schemeClr val="bg1"/>
                </a:solidFill>
                <a:effectLst/>
                <a:latin typeface="Calibri" panose="020F0502020204030204" pitchFamily="34" charset="0"/>
                <a:ea typeface="Calibri" panose="020F0502020204030204" pitchFamily="34" charset="0"/>
              </a:rPr>
              <a:t>Gains from a culture of solidarity and shared responsibility, where technology bridges the gap between those in need and those willing to help.</a:t>
            </a:r>
            <a:endParaRPr lang="en-PH" sz="1200" dirty="0">
              <a:solidFill>
                <a:schemeClr val="bg1"/>
              </a:solidFill>
            </a:endParaRPr>
          </a:p>
        </p:txBody>
      </p:sp>
    </p:spTree>
    <p:extLst>
      <p:ext uri="{BB962C8B-B14F-4D97-AF65-F5344CB8AC3E}">
        <p14:creationId xmlns:p14="http://schemas.microsoft.com/office/powerpoint/2010/main" val="1478481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E97BEB1-FEB3-4F80-AFA6-ED9D3DA8170D}"/>
              </a:ext>
            </a:extLst>
          </p:cNvPr>
          <p:cNvSpPr/>
          <p:nvPr/>
        </p:nvSpPr>
        <p:spPr>
          <a:xfrm>
            <a:off x="412864" y="278099"/>
            <a:ext cx="2663468" cy="253916"/>
          </a:xfrm>
          <a:prstGeom prst="roundRect">
            <a:avLst/>
          </a:prstGeom>
          <a:noFill/>
          <a:ln>
            <a:solidFill>
              <a:srgbClr val="BC987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FFFDF81E-4340-4894-A5A2-5B73C3350EC7}"/>
              </a:ext>
            </a:extLst>
          </p:cNvPr>
          <p:cNvSpPr txBox="1"/>
          <p:nvPr/>
        </p:nvSpPr>
        <p:spPr>
          <a:xfrm>
            <a:off x="726883" y="278099"/>
            <a:ext cx="2863249" cy="253916"/>
          </a:xfrm>
          <a:prstGeom prst="rect">
            <a:avLst/>
          </a:prstGeom>
          <a:noFill/>
        </p:spPr>
        <p:txBody>
          <a:bodyPr wrap="square" rtlCol="0">
            <a:spAutoFit/>
          </a:bodyPr>
          <a:lstStyle/>
          <a:p>
            <a:r>
              <a:rPr lang="en-US" sz="1050" dirty="0"/>
              <a:t>1.6 – DEFINITION OF TERMS</a:t>
            </a:r>
            <a:endParaRPr lang="en-PH" sz="1050" dirty="0"/>
          </a:p>
        </p:txBody>
      </p:sp>
      <p:sp>
        <p:nvSpPr>
          <p:cNvPr id="5" name="TextBox 4">
            <a:extLst>
              <a:ext uri="{FF2B5EF4-FFF2-40B4-BE49-F238E27FC236}">
                <a16:creationId xmlns:a16="http://schemas.microsoft.com/office/drawing/2014/main" id="{5CC17DC1-B5A7-4924-A1F2-11A5E94E0C43}"/>
              </a:ext>
            </a:extLst>
          </p:cNvPr>
          <p:cNvSpPr txBox="1"/>
          <p:nvPr/>
        </p:nvSpPr>
        <p:spPr>
          <a:xfrm>
            <a:off x="541246" y="1754367"/>
            <a:ext cx="5125907" cy="4431983"/>
          </a:xfrm>
          <a:prstGeom prst="rect">
            <a:avLst/>
          </a:prstGeom>
          <a:noFill/>
        </p:spPr>
        <p:txBody>
          <a:bodyPr wrap="square">
            <a:spAutoFit/>
          </a:bodyPr>
          <a:lstStyle/>
          <a:p>
            <a:r>
              <a:rPr lang="en-PH" sz="1600" b="1" dirty="0">
                <a:solidFill>
                  <a:srgbClr val="494D56"/>
                </a:solidFill>
              </a:rPr>
              <a:t>Accessibility</a:t>
            </a:r>
            <a:r>
              <a:rPr lang="en-PH" sz="1800" dirty="0">
                <a:solidFill>
                  <a:srgbClr val="000000"/>
                </a:solidFill>
                <a:effectLst/>
                <a:latin typeface="Calibri" panose="020F0502020204030204" pitchFamily="34" charset="0"/>
                <a:ea typeface="Calibri" panose="020F0502020204030204" pitchFamily="34" charset="0"/>
              </a:rPr>
              <a:t> </a:t>
            </a:r>
            <a:endParaRPr lang="en-PH" sz="1200" dirty="0">
              <a:solidFill>
                <a:srgbClr val="000000"/>
              </a:solidFill>
              <a:latin typeface="Calibri" panose="020F0502020204030204" pitchFamily="34" charset="0"/>
              <a:ea typeface="Calibri" panose="020F0502020204030204" pitchFamily="34" charset="0"/>
            </a:endParaRPr>
          </a:p>
          <a:p>
            <a:r>
              <a:rPr lang="en-PH" sz="1200" dirty="0">
                <a:solidFill>
                  <a:srgbClr val="000000"/>
                </a:solidFill>
                <a:effectLst/>
                <a:latin typeface="Calibri" panose="020F0502020204030204" pitchFamily="34" charset="0"/>
                <a:ea typeface="Calibri" panose="020F0502020204030204" pitchFamily="34" charset="0"/>
              </a:rPr>
              <a:t>In this study, accessibility refers to the ability of users, especially those in remote areas with limited internet or basic smartphones, to effectively use the system without technical barriers.</a:t>
            </a:r>
          </a:p>
          <a:p>
            <a:endParaRPr lang="en-PH" sz="1200" dirty="0">
              <a:effectLst/>
              <a:latin typeface="Times New Roman" panose="02020603050405020304" pitchFamily="18" charset="0"/>
              <a:ea typeface="Times New Roman" panose="02020603050405020304" pitchFamily="18" charset="0"/>
            </a:endParaRPr>
          </a:p>
          <a:p>
            <a:r>
              <a:rPr lang="en-PH" sz="1600" b="1" dirty="0">
                <a:solidFill>
                  <a:srgbClr val="494D56"/>
                </a:solidFill>
              </a:rPr>
              <a:t>Aid Distribution </a:t>
            </a:r>
          </a:p>
          <a:p>
            <a:r>
              <a:rPr lang="en-PH" sz="1200" dirty="0">
                <a:solidFill>
                  <a:srgbClr val="000000"/>
                </a:solidFill>
                <a:effectLst/>
                <a:latin typeface="Calibri" panose="020F0502020204030204" pitchFamily="34" charset="0"/>
                <a:ea typeface="Calibri" panose="020F0502020204030204" pitchFamily="34" charset="0"/>
              </a:rPr>
              <a:t>The process of delivering essential goods and medicines from helpers to communities, which the system supports through request tracking and updates.</a:t>
            </a:r>
          </a:p>
          <a:p>
            <a:endParaRPr lang="en-PH" sz="1200" dirty="0">
              <a:effectLst/>
              <a:latin typeface="Times New Roman" panose="02020603050405020304" pitchFamily="18" charset="0"/>
              <a:ea typeface="Times New Roman" panose="02020603050405020304" pitchFamily="18" charset="0"/>
            </a:endParaRPr>
          </a:p>
          <a:p>
            <a:r>
              <a:rPr lang="en-PH" sz="1600" b="1" dirty="0">
                <a:solidFill>
                  <a:srgbClr val="494D56"/>
                </a:solidFill>
              </a:rPr>
              <a:t>Barangay Officials / Community Representatives </a:t>
            </a:r>
          </a:p>
          <a:p>
            <a:r>
              <a:rPr lang="en-PH" sz="1200" dirty="0">
                <a:solidFill>
                  <a:srgbClr val="000000"/>
                </a:solidFill>
                <a:effectLst/>
                <a:latin typeface="Calibri" panose="020F0502020204030204" pitchFamily="34" charset="0"/>
                <a:ea typeface="Calibri" panose="020F0502020204030204" pitchFamily="34" charset="0"/>
              </a:rPr>
              <a:t>Verified leaders authorized to post requests for their community’s needs within the platform, ensuring legitimacy and accountability.</a:t>
            </a:r>
          </a:p>
          <a:p>
            <a:endParaRPr lang="en-PH" sz="1200" dirty="0">
              <a:effectLst/>
              <a:latin typeface="Times New Roman" panose="02020603050405020304" pitchFamily="18" charset="0"/>
              <a:ea typeface="Times New Roman" panose="02020603050405020304" pitchFamily="18" charset="0"/>
            </a:endParaRPr>
          </a:p>
          <a:p>
            <a:r>
              <a:rPr lang="en-PH" sz="1600" b="1" dirty="0">
                <a:solidFill>
                  <a:srgbClr val="494D56"/>
                </a:solidFill>
              </a:rPr>
              <a:t>Centralized Posting System</a:t>
            </a:r>
            <a:r>
              <a:rPr lang="en-PH" sz="1800" dirty="0">
                <a:solidFill>
                  <a:srgbClr val="000000"/>
                </a:solidFill>
                <a:effectLst/>
                <a:latin typeface="Calibri" panose="020F0502020204030204" pitchFamily="34" charset="0"/>
                <a:ea typeface="Calibri" panose="020F0502020204030204" pitchFamily="34" charset="0"/>
              </a:rPr>
              <a:t> </a:t>
            </a:r>
            <a:endParaRPr lang="en-PH" dirty="0">
              <a:solidFill>
                <a:srgbClr val="000000"/>
              </a:solidFill>
              <a:latin typeface="Calibri" panose="020F0502020204030204" pitchFamily="34" charset="0"/>
              <a:ea typeface="Calibri" panose="020F0502020204030204" pitchFamily="34" charset="0"/>
            </a:endParaRPr>
          </a:p>
          <a:p>
            <a:r>
              <a:rPr lang="en-PH" sz="1200" dirty="0">
                <a:solidFill>
                  <a:srgbClr val="000000"/>
                </a:solidFill>
                <a:effectLst/>
                <a:latin typeface="Calibri" panose="020F0502020204030204" pitchFamily="34" charset="0"/>
                <a:ea typeface="Calibri" panose="020F0502020204030204" pitchFamily="34" charset="0"/>
              </a:rPr>
              <a:t>A structured feature of the application where all requests for help are submitted in one place, reducing scattered communication and delays.</a:t>
            </a:r>
          </a:p>
          <a:p>
            <a:endParaRPr lang="en-PH" sz="1200" dirty="0">
              <a:effectLst/>
              <a:latin typeface="Times New Roman" panose="02020603050405020304" pitchFamily="18" charset="0"/>
              <a:ea typeface="Times New Roman" panose="02020603050405020304" pitchFamily="18" charset="0"/>
            </a:endParaRPr>
          </a:p>
          <a:p>
            <a:r>
              <a:rPr lang="en-PH" sz="1600" b="1" dirty="0">
                <a:solidFill>
                  <a:srgbClr val="494D56"/>
                </a:solidFill>
              </a:rPr>
              <a:t>Community Aid Network (CAN) </a:t>
            </a:r>
          </a:p>
          <a:p>
            <a:r>
              <a:rPr lang="en-PH" sz="1200" dirty="0">
                <a:solidFill>
                  <a:srgbClr val="000000"/>
                </a:solidFill>
                <a:effectLst/>
                <a:latin typeface="Calibri" panose="020F0502020204030204" pitchFamily="34" charset="0"/>
                <a:ea typeface="Calibri" panose="020F0502020204030204" pitchFamily="34" charset="0"/>
              </a:rPr>
              <a:t>The proposed web-based application developed in this study, designed to connect communities in need with helpers and volunteers.</a:t>
            </a:r>
          </a:p>
          <a:p>
            <a:endParaRPr lang="en-PH" sz="12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F42553CB-3C6D-4CEA-9AA1-3F37FBBDC7C3}"/>
              </a:ext>
            </a:extLst>
          </p:cNvPr>
          <p:cNvSpPr txBox="1"/>
          <p:nvPr/>
        </p:nvSpPr>
        <p:spPr>
          <a:xfrm>
            <a:off x="6293027" y="1320730"/>
            <a:ext cx="5357727" cy="4216539"/>
          </a:xfrm>
          <a:prstGeom prst="rect">
            <a:avLst/>
          </a:prstGeom>
          <a:noFill/>
        </p:spPr>
        <p:txBody>
          <a:bodyPr wrap="square">
            <a:spAutoFit/>
          </a:bodyPr>
          <a:lstStyle/>
          <a:p>
            <a:r>
              <a:rPr lang="en-PH" sz="1600" b="1" dirty="0">
                <a:solidFill>
                  <a:srgbClr val="494D56"/>
                </a:solidFill>
              </a:rPr>
              <a:t>Database</a:t>
            </a:r>
            <a:r>
              <a:rPr lang="en-PH" sz="2800" dirty="0">
                <a:solidFill>
                  <a:srgbClr val="000000"/>
                </a:solidFill>
                <a:effectLst/>
                <a:latin typeface="Calibri" panose="020F0502020204030204" pitchFamily="34" charset="0"/>
                <a:ea typeface="Calibri" panose="020F0502020204030204" pitchFamily="34" charset="0"/>
              </a:rPr>
              <a:t> </a:t>
            </a:r>
            <a:endParaRPr lang="en-PH" sz="1600" b="1" dirty="0">
              <a:solidFill>
                <a:srgbClr val="494D56"/>
              </a:solidFill>
            </a:endParaRPr>
          </a:p>
          <a:p>
            <a:r>
              <a:rPr lang="en-PH" sz="1200" dirty="0">
                <a:solidFill>
                  <a:srgbClr val="000000"/>
                </a:solidFill>
                <a:latin typeface="Calibri" panose="020F0502020204030204" pitchFamily="34" charset="0"/>
                <a:ea typeface="Calibri" panose="020F0502020204030204" pitchFamily="34" charset="0"/>
              </a:rPr>
              <a:t>The organized collection of community requests and helper information, searchable by filters such as location, urgency, and type of need.</a:t>
            </a:r>
          </a:p>
          <a:p>
            <a:endParaRPr lang="en-PH" sz="1200" dirty="0">
              <a:solidFill>
                <a:srgbClr val="000000"/>
              </a:solidFill>
              <a:latin typeface="Calibri" panose="020F0502020204030204" pitchFamily="34" charset="0"/>
              <a:ea typeface="Calibri" panose="020F0502020204030204" pitchFamily="34" charset="0"/>
            </a:endParaRPr>
          </a:p>
          <a:p>
            <a:r>
              <a:rPr lang="en-PH" sz="1600" b="1" dirty="0">
                <a:solidFill>
                  <a:srgbClr val="494D56"/>
                </a:solidFill>
              </a:rPr>
              <a:t>Donors / Helpers / Volunteers </a:t>
            </a:r>
          </a:p>
          <a:p>
            <a:r>
              <a:rPr lang="en-PH" sz="1200" dirty="0">
                <a:solidFill>
                  <a:srgbClr val="000000"/>
                </a:solidFill>
                <a:latin typeface="Calibri" panose="020F0502020204030204" pitchFamily="34" charset="0"/>
                <a:ea typeface="Calibri" panose="020F0502020204030204" pitchFamily="34" charset="0"/>
              </a:rPr>
              <a:t>Individuals or groups willing to provide assistance in the form of essential goods and medicines, not financial support.</a:t>
            </a:r>
          </a:p>
          <a:p>
            <a:endParaRPr lang="en-PH" sz="1200" dirty="0">
              <a:solidFill>
                <a:srgbClr val="000000"/>
              </a:solidFill>
              <a:latin typeface="Calibri" panose="020F0502020204030204" pitchFamily="34" charset="0"/>
              <a:ea typeface="Calibri" panose="020F0502020204030204" pitchFamily="34" charset="0"/>
            </a:endParaRPr>
          </a:p>
          <a:p>
            <a:r>
              <a:rPr lang="en-PH" sz="1600" b="1" dirty="0">
                <a:solidFill>
                  <a:srgbClr val="494D56"/>
                </a:solidFill>
              </a:rPr>
              <a:t>Messaging System</a:t>
            </a:r>
          </a:p>
          <a:p>
            <a:r>
              <a:rPr lang="en-PH" sz="1200" dirty="0">
                <a:solidFill>
                  <a:srgbClr val="000000"/>
                </a:solidFill>
                <a:latin typeface="Calibri" panose="020F0502020204030204" pitchFamily="34" charset="0"/>
                <a:ea typeface="Calibri" panose="020F0502020204030204" pitchFamily="34" charset="0"/>
              </a:rPr>
              <a:t>A secure communication feature within the app that allows helpers and community representatives to coordinate aid directly.</a:t>
            </a:r>
          </a:p>
          <a:p>
            <a:endParaRPr lang="en-PH" sz="1200" dirty="0">
              <a:solidFill>
                <a:srgbClr val="000000"/>
              </a:solidFill>
              <a:latin typeface="Calibri" panose="020F0502020204030204" pitchFamily="34" charset="0"/>
              <a:ea typeface="Calibri" panose="020F0502020204030204" pitchFamily="34" charset="0"/>
            </a:endParaRPr>
          </a:p>
          <a:p>
            <a:r>
              <a:rPr lang="en-PH" sz="1600" b="1" dirty="0">
                <a:solidFill>
                  <a:srgbClr val="494D56"/>
                </a:solidFill>
              </a:rPr>
              <a:t>Request Tracking </a:t>
            </a:r>
          </a:p>
          <a:p>
            <a:r>
              <a:rPr lang="en-PH" sz="1200" dirty="0">
                <a:solidFill>
                  <a:srgbClr val="000000"/>
                </a:solidFill>
                <a:latin typeface="Calibri" panose="020F0502020204030204" pitchFamily="34" charset="0"/>
                <a:ea typeface="Calibri" panose="020F0502020204030204" pitchFamily="34" charset="0"/>
              </a:rPr>
              <a:t>A transparency mechanism where communities update the status of posted needs, marking them as fulfilled or ongoing to build trust.</a:t>
            </a:r>
          </a:p>
          <a:p>
            <a:endParaRPr lang="en-PH" sz="1200" dirty="0">
              <a:solidFill>
                <a:srgbClr val="000000"/>
              </a:solidFill>
              <a:latin typeface="Calibri" panose="020F0502020204030204" pitchFamily="34" charset="0"/>
              <a:ea typeface="Calibri" panose="020F0502020204030204" pitchFamily="34" charset="0"/>
            </a:endParaRPr>
          </a:p>
          <a:p>
            <a:r>
              <a:rPr lang="en-PH" sz="1600" b="1" dirty="0">
                <a:solidFill>
                  <a:srgbClr val="494D56"/>
                </a:solidFill>
              </a:rPr>
              <a:t>Transparency</a:t>
            </a:r>
            <a:r>
              <a:rPr lang="en-PH" b="1" dirty="0">
                <a:solidFill>
                  <a:srgbClr val="000000"/>
                </a:solidFill>
                <a:latin typeface="Calibri" panose="020F0502020204030204" pitchFamily="34" charset="0"/>
                <a:ea typeface="Calibri" panose="020F0502020204030204" pitchFamily="34" charset="0"/>
              </a:rPr>
              <a:t> </a:t>
            </a:r>
          </a:p>
          <a:p>
            <a:r>
              <a:rPr lang="en-PH" sz="1200" dirty="0">
                <a:solidFill>
                  <a:srgbClr val="000000"/>
                </a:solidFill>
                <a:latin typeface="Calibri" panose="020F0502020204030204" pitchFamily="34" charset="0"/>
                <a:ea typeface="Calibri" panose="020F0502020204030204" pitchFamily="34" charset="0"/>
              </a:rPr>
              <a:t>The practice of ensuring accountability by showing updates on requests and aid received, fostering confidence between communities and helpers.</a:t>
            </a:r>
          </a:p>
        </p:txBody>
      </p:sp>
      <p:sp>
        <p:nvSpPr>
          <p:cNvPr id="8" name="TextBox 7">
            <a:extLst>
              <a:ext uri="{FF2B5EF4-FFF2-40B4-BE49-F238E27FC236}">
                <a16:creationId xmlns:a16="http://schemas.microsoft.com/office/drawing/2014/main" id="{ED712869-86EF-4B92-8DC5-33484860CB78}"/>
              </a:ext>
            </a:extLst>
          </p:cNvPr>
          <p:cNvSpPr txBox="1"/>
          <p:nvPr/>
        </p:nvSpPr>
        <p:spPr>
          <a:xfrm>
            <a:off x="313648" y="671650"/>
            <a:ext cx="4818355" cy="523220"/>
          </a:xfrm>
          <a:prstGeom prst="rect">
            <a:avLst/>
          </a:prstGeom>
          <a:noFill/>
        </p:spPr>
        <p:txBody>
          <a:bodyPr wrap="square" rtlCol="0">
            <a:spAutoFit/>
          </a:bodyPr>
          <a:lstStyle/>
          <a:p>
            <a:r>
              <a:rPr lang="en-US" sz="2800" dirty="0">
                <a:solidFill>
                  <a:srgbClr val="434E60"/>
                </a:solidFill>
                <a:latin typeface="Arial Black" panose="020B0A04020102020204" pitchFamily="34" charset="0"/>
              </a:rPr>
              <a:t>KEY TERMS IN CAN</a:t>
            </a:r>
            <a:endParaRPr lang="en-PH" sz="2800" dirty="0">
              <a:solidFill>
                <a:srgbClr val="434E60"/>
              </a:solidFill>
              <a:latin typeface="Arial Black" panose="020B0A04020102020204" pitchFamily="34" charset="0"/>
            </a:endParaRPr>
          </a:p>
        </p:txBody>
      </p:sp>
      <p:cxnSp>
        <p:nvCxnSpPr>
          <p:cNvPr id="10" name="Straight Connector 9">
            <a:extLst>
              <a:ext uri="{FF2B5EF4-FFF2-40B4-BE49-F238E27FC236}">
                <a16:creationId xmlns:a16="http://schemas.microsoft.com/office/drawing/2014/main" id="{DD29B3C8-4DA1-4211-A08E-F25B82C5C1B2}"/>
              </a:ext>
            </a:extLst>
          </p:cNvPr>
          <p:cNvCxnSpPr/>
          <p:nvPr/>
        </p:nvCxnSpPr>
        <p:spPr>
          <a:xfrm>
            <a:off x="5890437" y="1467293"/>
            <a:ext cx="0" cy="4465674"/>
          </a:xfrm>
          <a:prstGeom prst="line">
            <a:avLst/>
          </a:prstGeom>
          <a:ln>
            <a:solidFill>
              <a:srgbClr val="BC987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228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0B6B56-8636-4D59-A038-870F5182834E}"/>
              </a:ext>
            </a:extLst>
          </p:cNvPr>
          <p:cNvSpPr txBox="1"/>
          <p:nvPr/>
        </p:nvSpPr>
        <p:spPr>
          <a:xfrm>
            <a:off x="313648" y="671650"/>
            <a:ext cx="5782352" cy="954107"/>
          </a:xfrm>
          <a:prstGeom prst="rect">
            <a:avLst/>
          </a:prstGeom>
          <a:noFill/>
        </p:spPr>
        <p:txBody>
          <a:bodyPr wrap="square" rtlCol="0">
            <a:spAutoFit/>
          </a:bodyPr>
          <a:lstStyle/>
          <a:p>
            <a:r>
              <a:rPr lang="en-US" sz="2800" dirty="0">
                <a:solidFill>
                  <a:srgbClr val="434E60"/>
                </a:solidFill>
                <a:latin typeface="Arial Black" panose="020B0A04020102020204" pitchFamily="34" charset="0"/>
              </a:rPr>
              <a:t>PROJECT NEXUS: SOFTWARE ROOKIES TEAM</a:t>
            </a:r>
            <a:endParaRPr lang="en-PH" sz="2800" dirty="0">
              <a:solidFill>
                <a:srgbClr val="434E60"/>
              </a:solidFill>
              <a:latin typeface="Arial Black" panose="020B0A04020102020204" pitchFamily="34" charset="0"/>
            </a:endParaRPr>
          </a:p>
        </p:txBody>
      </p:sp>
      <p:cxnSp>
        <p:nvCxnSpPr>
          <p:cNvPr id="5" name="Straight Connector 4">
            <a:extLst>
              <a:ext uri="{FF2B5EF4-FFF2-40B4-BE49-F238E27FC236}">
                <a16:creationId xmlns:a16="http://schemas.microsoft.com/office/drawing/2014/main" id="{713F92D4-725C-4321-8793-621324EDE9EE}"/>
              </a:ext>
            </a:extLst>
          </p:cNvPr>
          <p:cNvCxnSpPr>
            <a:cxnSpLocks/>
          </p:cNvCxnSpPr>
          <p:nvPr/>
        </p:nvCxnSpPr>
        <p:spPr>
          <a:xfrm>
            <a:off x="412864" y="1625757"/>
            <a:ext cx="5839080" cy="0"/>
          </a:xfrm>
          <a:prstGeom prst="line">
            <a:avLst/>
          </a:prstGeom>
          <a:ln>
            <a:solidFill>
              <a:srgbClr val="434E6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CA5BB91-7205-4AB5-8857-16AC1C723852}"/>
              </a:ext>
            </a:extLst>
          </p:cNvPr>
          <p:cNvCxnSpPr>
            <a:cxnSpLocks/>
          </p:cNvCxnSpPr>
          <p:nvPr/>
        </p:nvCxnSpPr>
        <p:spPr>
          <a:xfrm>
            <a:off x="499730" y="2700670"/>
            <a:ext cx="0" cy="1860698"/>
          </a:xfrm>
          <a:prstGeom prst="line">
            <a:avLst/>
          </a:prstGeom>
          <a:ln>
            <a:solidFill>
              <a:srgbClr val="BC9876"/>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29FE8A1-BE2A-4BAB-A983-3E5D9843CA12}"/>
              </a:ext>
            </a:extLst>
          </p:cNvPr>
          <p:cNvCxnSpPr>
            <a:cxnSpLocks/>
          </p:cNvCxnSpPr>
          <p:nvPr/>
        </p:nvCxnSpPr>
        <p:spPr>
          <a:xfrm>
            <a:off x="3452654" y="4503970"/>
            <a:ext cx="0" cy="2120114"/>
          </a:xfrm>
          <a:prstGeom prst="line">
            <a:avLst/>
          </a:prstGeom>
          <a:ln>
            <a:solidFill>
              <a:srgbClr val="BC9876"/>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4588CFC-6569-482A-9875-2A4C39B3F61D}"/>
              </a:ext>
            </a:extLst>
          </p:cNvPr>
          <p:cNvCxnSpPr>
            <a:cxnSpLocks/>
          </p:cNvCxnSpPr>
          <p:nvPr/>
        </p:nvCxnSpPr>
        <p:spPr>
          <a:xfrm>
            <a:off x="6531934" y="2785731"/>
            <a:ext cx="0" cy="1884375"/>
          </a:xfrm>
          <a:prstGeom prst="line">
            <a:avLst/>
          </a:prstGeom>
          <a:ln>
            <a:solidFill>
              <a:srgbClr val="BC9876"/>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9AD8870-95B4-4FA7-B725-0AF23A4FB926}"/>
              </a:ext>
            </a:extLst>
          </p:cNvPr>
          <p:cNvSpPr txBox="1"/>
          <p:nvPr/>
        </p:nvSpPr>
        <p:spPr>
          <a:xfrm>
            <a:off x="363256" y="1927790"/>
            <a:ext cx="2688288" cy="584775"/>
          </a:xfrm>
          <a:prstGeom prst="rect">
            <a:avLst/>
          </a:prstGeom>
          <a:noFill/>
        </p:spPr>
        <p:txBody>
          <a:bodyPr wrap="square" rtlCol="0">
            <a:spAutoFit/>
          </a:bodyPr>
          <a:lstStyle/>
          <a:p>
            <a:r>
              <a:rPr lang="en-US" sz="1600" dirty="0">
                <a:solidFill>
                  <a:srgbClr val="262A36"/>
                </a:solidFill>
                <a:latin typeface="Arial Black" panose="020B0A04020102020204" pitchFamily="34" charset="0"/>
              </a:rPr>
              <a:t>PROJECT MANAGEMENT</a:t>
            </a:r>
          </a:p>
        </p:txBody>
      </p:sp>
      <p:sp>
        <p:nvSpPr>
          <p:cNvPr id="12" name="TextBox 11">
            <a:extLst>
              <a:ext uri="{FF2B5EF4-FFF2-40B4-BE49-F238E27FC236}">
                <a16:creationId xmlns:a16="http://schemas.microsoft.com/office/drawing/2014/main" id="{6B5CA251-5455-424E-A2ED-8F8457EF97BF}"/>
              </a:ext>
            </a:extLst>
          </p:cNvPr>
          <p:cNvSpPr txBox="1"/>
          <p:nvPr/>
        </p:nvSpPr>
        <p:spPr>
          <a:xfrm>
            <a:off x="3332404" y="4147892"/>
            <a:ext cx="2688288" cy="338554"/>
          </a:xfrm>
          <a:prstGeom prst="rect">
            <a:avLst/>
          </a:prstGeom>
          <a:noFill/>
        </p:spPr>
        <p:txBody>
          <a:bodyPr wrap="square" rtlCol="0">
            <a:spAutoFit/>
          </a:bodyPr>
          <a:lstStyle/>
          <a:p>
            <a:r>
              <a:rPr lang="en-US" sz="1600" dirty="0">
                <a:solidFill>
                  <a:srgbClr val="262A36"/>
                </a:solidFill>
                <a:latin typeface="Arial Black" panose="020B0A04020102020204" pitchFamily="34" charset="0"/>
              </a:rPr>
              <a:t>DEVELOPMENT</a:t>
            </a:r>
          </a:p>
        </p:txBody>
      </p:sp>
      <p:cxnSp>
        <p:nvCxnSpPr>
          <p:cNvPr id="13" name="Straight Connector 12">
            <a:extLst>
              <a:ext uri="{FF2B5EF4-FFF2-40B4-BE49-F238E27FC236}">
                <a16:creationId xmlns:a16="http://schemas.microsoft.com/office/drawing/2014/main" id="{F8047BF3-8CCB-47B7-AAD3-7934E349642C}"/>
              </a:ext>
            </a:extLst>
          </p:cNvPr>
          <p:cNvCxnSpPr>
            <a:cxnSpLocks/>
          </p:cNvCxnSpPr>
          <p:nvPr/>
        </p:nvCxnSpPr>
        <p:spPr>
          <a:xfrm>
            <a:off x="9512594" y="4503970"/>
            <a:ext cx="0" cy="2055081"/>
          </a:xfrm>
          <a:prstGeom prst="line">
            <a:avLst/>
          </a:prstGeom>
          <a:ln>
            <a:solidFill>
              <a:srgbClr val="BC9876"/>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BA0297-5216-485F-93A0-EB5D6D206C23}"/>
              </a:ext>
            </a:extLst>
          </p:cNvPr>
          <p:cNvSpPr txBox="1"/>
          <p:nvPr/>
        </p:nvSpPr>
        <p:spPr>
          <a:xfrm>
            <a:off x="6531934" y="1927790"/>
            <a:ext cx="2688288" cy="584775"/>
          </a:xfrm>
          <a:prstGeom prst="rect">
            <a:avLst/>
          </a:prstGeom>
          <a:noFill/>
        </p:spPr>
        <p:txBody>
          <a:bodyPr wrap="square" rtlCol="0">
            <a:spAutoFit/>
          </a:bodyPr>
          <a:lstStyle/>
          <a:p>
            <a:r>
              <a:rPr lang="en-US" sz="1600" dirty="0">
                <a:solidFill>
                  <a:srgbClr val="262A36"/>
                </a:solidFill>
                <a:latin typeface="Arial Black" panose="020B0A04020102020204" pitchFamily="34" charset="0"/>
              </a:rPr>
              <a:t>DESIGN &amp; ARCHITECTURE</a:t>
            </a:r>
          </a:p>
        </p:txBody>
      </p:sp>
      <p:sp>
        <p:nvSpPr>
          <p:cNvPr id="16" name="TextBox 15">
            <a:extLst>
              <a:ext uri="{FF2B5EF4-FFF2-40B4-BE49-F238E27FC236}">
                <a16:creationId xmlns:a16="http://schemas.microsoft.com/office/drawing/2014/main" id="{8EC393B8-32A2-46ED-A664-4B3C975E1041}"/>
              </a:ext>
            </a:extLst>
          </p:cNvPr>
          <p:cNvSpPr txBox="1"/>
          <p:nvPr/>
        </p:nvSpPr>
        <p:spPr>
          <a:xfrm>
            <a:off x="9364607" y="3855504"/>
            <a:ext cx="2688288" cy="584775"/>
          </a:xfrm>
          <a:prstGeom prst="rect">
            <a:avLst/>
          </a:prstGeom>
          <a:noFill/>
        </p:spPr>
        <p:txBody>
          <a:bodyPr wrap="square" rtlCol="0">
            <a:spAutoFit/>
          </a:bodyPr>
          <a:lstStyle/>
          <a:p>
            <a:r>
              <a:rPr lang="en-US" sz="1600" dirty="0">
                <a:solidFill>
                  <a:srgbClr val="262A36"/>
                </a:solidFill>
                <a:latin typeface="Arial Black" panose="020B0A04020102020204" pitchFamily="34" charset="0"/>
              </a:rPr>
              <a:t>QUALITY &amp; COORDINATION</a:t>
            </a:r>
          </a:p>
        </p:txBody>
      </p:sp>
      <p:sp>
        <p:nvSpPr>
          <p:cNvPr id="18" name="TextBox 17">
            <a:extLst>
              <a:ext uri="{FF2B5EF4-FFF2-40B4-BE49-F238E27FC236}">
                <a16:creationId xmlns:a16="http://schemas.microsoft.com/office/drawing/2014/main" id="{782DF14D-1962-44EC-91E7-6E16EC3C4526}"/>
              </a:ext>
            </a:extLst>
          </p:cNvPr>
          <p:cNvSpPr txBox="1"/>
          <p:nvPr/>
        </p:nvSpPr>
        <p:spPr>
          <a:xfrm>
            <a:off x="-370695" y="3743876"/>
            <a:ext cx="3777214" cy="317459"/>
          </a:xfrm>
          <a:prstGeom prst="rect">
            <a:avLst/>
          </a:prstGeom>
          <a:noFill/>
        </p:spPr>
        <p:txBody>
          <a:bodyPr wrap="square">
            <a:spAutoFit/>
          </a:bodyPr>
          <a:lstStyle/>
          <a:p>
            <a:pPr marL="6350" indent="-6350" algn="ctr">
              <a:lnSpc>
                <a:spcPct val="110000"/>
              </a:lnSpc>
              <a:spcAft>
                <a:spcPts val="920"/>
              </a:spcAft>
            </a:pPr>
            <a:r>
              <a:rPr lang="en-PH" sz="1400" dirty="0" err="1">
                <a:solidFill>
                  <a:srgbClr val="000000"/>
                </a:solidFill>
                <a:effectLst/>
                <a:latin typeface="Calibri" panose="020F0502020204030204" pitchFamily="34" charset="0"/>
                <a:ea typeface="Calibri" panose="020F0502020204030204" pitchFamily="34" charset="0"/>
              </a:rPr>
              <a:t>Ladrera</a:t>
            </a:r>
            <a:r>
              <a:rPr lang="en-PH" sz="1400" dirty="0">
                <a:solidFill>
                  <a:srgbClr val="000000"/>
                </a:solidFill>
                <a:effectLst/>
                <a:latin typeface="Calibri" panose="020F0502020204030204" pitchFamily="34" charset="0"/>
                <a:ea typeface="Calibri" panose="020F0502020204030204" pitchFamily="34" charset="0"/>
              </a:rPr>
              <a:t>, Jose Mariano L. </a:t>
            </a:r>
          </a:p>
        </p:txBody>
      </p:sp>
      <p:sp>
        <p:nvSpPr>
          <p:cNvPr id="20" name="TextBox 19">
            <a:extLst>
              <a:ext uri="{FF2B5EF4-FFF2-40B4-BE49-F238E27FC236}">
                <a16:creationId xmlns:a16="http://schemas.microsoft.com/office/drawing/2014/main" id="{D90DF1CC-B8BD-4531-9595-74E5F93DAB32}"/>
              </a:ext>
            </a:extLst>
          </p:cNvPr>
          <p:cNvSpPr txBox="1"/>
          <p:nvPr/>
        </p:nvSpPr>
        <p:spPr>
          <a:xfrm>
            <a:off x="-1669301" y="2740327"/>
            <a:ext cx="6097772" cy="349583"/>
          </a:xfrm>
          <a:prstGeom prst="rect">
            <a:avLst/>
          </a:prstGeom>
          <a:noFill/>
        </p:spPr>
        <p:txBody>
          <a:bodyPr wrap="square">
            <a:spAutoFit/>
          </a:bodyPr>
          <a:lstStyle/>
          <a:p>
            <a:pPr marL="6350" marR="635" indent="-6350" algn="ctr">
              <a:lnSpc>
                <a:spcPct val="110000"/>
              </a:lnSpc>
              <a:spcAft>
                <a:spcPts val="920"/>
              </a:spcAft>
            </a:pPr>
            <a:r>
              <a:rPr lang="en-PH" sz="1600" b="1" dirty="0">
                <a:solidFill>
                  <a:srgbClr val="494D56"/>
                </a:solidFill>
              </a:rPr>
              <a:t>Project Manager</a:t>
            </a:r>
          </a:p>
        </p:txBody>
      </p:sp>
      <p:sp>
        <p:nvSpPr>
          <p:cNvPr id="22" name="TextBox 21">
            <a:extLst>
              <a:ext uri="{FF2B5EF4-FFF2-40B4-BE49-F238E27FC236}">
                <a16:creationId xmlns:a16="http://schemas.microsoft.com/office/drawing/2014/main" id="{A2C5E719-670D-4D48-8D52-AF7D3C9E3E02}"/>
              </a:ext>
            </a:extLst>
          </p:cNvPr>
          <p:cNvSpPr txBox="1"/>
          <p:nvPr/>
        </p:nvSpPr>
        <p:spPr>
          <a:xfrm>
            <a:off x="549359" y="3043182"/>
            <a:ext cx="6895214" cy="307777"/>
          </a:xfrm>
          <a:prstGeom prst="rect">
            <a:avLst/>
          </a:prstGeom>
          <a:noFill/>
        </p:spPr>
        <p:txBody>
          <a:bodyPr wrap="square">
            <a:spAutoFit/>
          </a:bodyPr>
          <a:lstStyle/>
          <a:p>
            <a:r>
              <a:rPr lang="en-PH" sz="1400" dirty="0">
                <a:solidFill>
                  <a:srgbClr val="000000"/>
                </a:solidFill>
                <a:effectLst/>
                <a:latin typeface="Calibri" panose="020F0502020204030204" pitchFamily="34" charset="0"/>
                <a:ea typeface="Calibri" panose="020F0502020204030204" pitchFamily="34" charset="0"/>
              </a:rPr>
              <a:t>Bradecina, Art Lenard B. </a:t>
            </a:r>
            <a:endParaRPr lang="en-PH" sz="1400" dirty="0"/>
          </a:p>
        </p:txBody>
      </p:sp>
      <p:sp>
        <p:nvSpPr>
          <p:cNvPr id="24" name="TextBox 23">
            <a:extLst>
              <a:ext uri="{FF2B5EF4-FFF2-40B4-BE49-F238E27FC236}">
                <a16:creationId xmlns:a16="http://schemas.microsoft.com/office/drawing/2014/main" id="{60E4C653-6072-4A05-887A-AAC8D7B274CC}"/>
              </a:ext>
            </a:extLst>
          </p:cNvPr>
          <p:cNvSpPr txBox="1"/>
          <p:nvPr/>
        </p:nvSpPr>
        <p:spPr>
          <a:xfrm>
            <a:off x="593987" y="3466948"/>
            <a:ext cx="2815180" cy="338554"/>
          </a:xfrm>
          <a:prstGeom prst="rect">
            <a:avLst/>
          </a:prstGeom>
          <a:noFill/>
        </p:spPr>
        <p:txBody>
          <a:bodyPr wrap="square">
            <a:spAutoFit/>
          </a:bodyPr>
          <a:lstStyle/>
          <a:p>
            <a:r>
              <a:rPr lang="en-PH" sz="1600" b="1" dirty="0">
                <a:solidFill>
                  <a:srgbClr val="494D56"/>
                </a:solidFill>
              </a:rPr>
              <a:t>Database Administrator</a:t>
            </a:r>
          </a:p>
        </p:txBody>
      </p:sp>
      <p:sp>
        <p:nvSpPr>
          <p:cNvPr id="29" name="TextBox 28">
            <a:extLst>
              <a:ext uri="{FF2B5EF4-FFF2-40B4-BE49-F238E27FC236}">
                <a16:creationId xmlns:a16="http://schemas.microsoft.com/office/drawing/2014/main" id="{EAB3C2C6-22BC-43C9-A97C-E0BC7B8F425C}"/>
              </a:ext>
            </a:extLst>
          </p:cNvPr>
          <p:cNvSpPr txBox="1"/>
          <p:nvPr/>
        </p:nvSpPr>
        <p:spPr>
          <a:xfrm>
            <a:off x="6625845" y="3426022"/>
            <a:ext cx="2723655" cy="584775"/>
          </a:xfrm>
          <a:prstGeom prst="rect">
            <a:avLst/>
          </a:prstGeom>
          <a:noFill/>
        </p:spPr>
        <p:txBody>
          <a:bodyPr wrap="square">
            <a:spAutoFit/>
          </a:bodyPr>
          <a:lstStyle/>
          <a:p>
            <a:r>
              <a:rPr lang="en-PH" sz="1600" b="1" dirty="0">
                <a:solidFill>
                  <a:srgbClr val="494D56"/>
                </a:solidFill>
              </a:rPr>
              <a:t>Technical Writer &amp; UML Architect</a:t>
            </a:r>
          </a:p>
        </p:txBody>
      </p:sp>
      <p:sp>
        <p:nvSpPr>
          <p:cNvPr id="31" name="TextBox 30">
            <a:extLst>
              <a:ext uri="{FF2B5EF4-FFF2-40B4-BE49-F238E27FC236}">
                <a16:creationId xmlns:a16="http://schemas.microsoft.com/office/drawing/2014/main" id="{1DDF0F9F-B55A-4F0C-8281-4596175DBE00}"/>
              </a:ext>
            </a:extLst>
          </p:cNvPr>
          <p:cNvSpPr txBox="1"/>
          <p:nvPr/>
        </p:nvSpPr>
        <p:spPr>
          <a:xfrm>
            <a:off x="1083903" y="4712384"/>
            <a:ext cx="6895214" cy="317459"/>
          </a:xfrm>
          <a:prstGeom prst="rect">
            <a:avLst/>
          </a:prstGeom>
          <a:noFill/>
        </p:spPr>
        <p:txBody>
          <a:bodyPr wrap="square">
            <a:spAutoFit/>
          </a:bodyPr>
          <a:lstStyle/>
          <a:p>
            <a:pPr marL="6350" indent="-6350" algn="ctr">
              <a:lnSpc>
                <a:spcPct val="110000"/>
              </a:lnSpc>
              <a:spcAft>
                <a:spcPts val="920"/>
              </a:spcAft>
            </a:pPr>
            <a:r>
              <a:rPr lang="en-PH" sz="1400" dirty="0" err="1">
                <a:solidFill>
                  <a:srgbClr val="000000"/>
                </a:solidFill>
                <a:effectLst/>
                <a:latin typeface="Calibri" panose="020F0502020204030204" pitchFamily="34" charset="0"/>
                <a:ea typeface="Calibri" panose="020F0502020204030204" pitchFamily="34" charset="0"/>
              </a:rPr>
              <a:t>Ladrera</a:t>
            </a:r>
            <a:r>
              <a:rPr lang="en-PH" sz="1400" dirty="0">
                <a:solidFill>
                  <a:srgbClr val="000000"/>
                </a:solidFill>
                <a:effectLst/>
                <a:latin typeface="Calibri" panose="020F0502020204030204" pitchFamily="34" charset="0"/>
                <a:ea typeface="Calibri" panose="020F0502020204030204" pitchFamily="34" charset="0"/>
              </a:rPr>
              <a:t>, Jose Mariano L. </a:t>
            </a:r>
          </a:p>
        </p:txBody>
      </p:sp>
      <p:sp>
        <p:nvSpPr>
          <p:cNvPr id="33" name="TextBox 32">
            <a:extLst>
              <a:ext uri="{FF2B5EF4-FFF2-40B4-BE49-F238E27FC236}">
                <a16:creationId xmlns:a16="http://schemas.microsoft.com/office/drawing/2014/main" id="{ABAB0569-D82F-468B-95E4-BB3B4D2BB2AA}"/>
              </a:ext>
            </a:extLst>
          </p:cNvPr>
          <p:cNvSpPr txBox="1"/>
          <p:nvPr/>
        </p:nvSpPr>
        <p:spPr>
          <a:xfrm>
            <a:off x="3558980" y="5151251"/>
            <a:ext cx="6932428" cy="338554"/>
          </a:xfrm>
          <a:prstGeom prst="rect">
            <a:avLst/>
          </a:prstGeom>
          <a:noFill/>
        </p:spPr>
        <p:txBody>
          <a:bodyPr wrap="square">
            <a:spAutoFit/>
          </a:bodyPr>
          <a:lstStyle/>
          <a:p>
            <a:r>
              <a:rPr lang="en-PH" sz="1600" b="1" dirty="0">
                <a:solidFill>
                  <a:srgbClr val="494D56"/>
                </a:solidFill>
              </a:rPr>
              <a:t>Lead Fronted Developer</a:t>
            </a:r>
          </a:p>
        </p:txBody>
      </p:sp>
      <p:sp>
        <p:nvSpPr>
          <p:cNvPr id="35" name="TextBox 34">
            <a:extLst>
              <a:ext uri="{FF2B5EF4-FFF2-40B4-BE49-F238E27FC236}">
                <a16:creationId xmlns:a16="http://schemas.microsoft.com/office/drawing/2014/main" id="{D91AFFD3-EBBC-45F8-B8C2-BA7A382328F0}"/>
              </a:ext>
            </a:extLst>
          </p:cNvPr>
          <p:cNvSpPr txBox="1"/>
          <p:nvPr/>
        </p:nvSpPr>
        <p:spPr>
          <a:xfrm>
            <a:off x="3540373" y="5437776"/>
            <a:ext cx="6932428" cy="307777"/>
          </a:xfrm>
          <a:prstGeom prst="rect">
            <a:avLst/>
          </a:prstGeom>
          <a:noFill/>
        </p:spPr>
        <p:txBody>
          <a:bodyPr wrap="square">
            <a:spAutoFit/>
          </a:bodyPr>
          <a:lstStyle/>
          <a:p>
            <a:r>
              <a:rPr lang="en-PH" sz="1400" dirty="0" err="1">
                <a:solidFill>
                  <a:srgbClr val="000000"/>
                </a:solidFill>
                <a:latin typeface="Calibri" panose="020F0502020204030204" pitchFamily="34" charset="0"/>
                <a:ea typeface="Calibri" panose="020F0502020204030204" pitchFamily="34" charset="0"/>
              </a:rPr>
              <a:t>Tuvilla</a:t>
            </a:r>
            <a:r>
              <a:rPr lang="en-PH" sz="1400" dirty="0">
                <a:solidFill>
                  <a:srgbClr val="000000"/>
                </a:solidFill>
                <a:latin typeface="Calibri" panose="020F0502020204030204" pitchFamily="34" charset="0"/>
                <a:ea typeface="Calibri" panose="020F0502020204030204" pitchFamily="34" charset="0"/>
              </a:rPr>
              <a:t>, </a:t>
            </a:r>
            <a:r>
              <a:rPr lang="en-PH" sz="1400" dirty="0" err="1">
                <a:solidFill>
                  <a:srgbClr val="000000"/>
                </a:solidFill>
                <a:latin typeface="Calibri" panose="020F0502020204030204" pitchFamily="34" charset="0"/>
                <a:ea typeface="Calibri" panose="020F0502020204030204" pitchFamily="34" charset="0"/>
              </a:rPr>
              <a:t>Anjho</a:t>
            </a:r>
            <a:r>
              <a:rPr lang="en-PH" sz="1400" dirty="0">
                <a:solidFill>
                  <a:srgbClr val="000000"/>
                </a:solidFill>
                <a:latin typeface="Calibri" panose="020F0502020204030204" pitchFamily="34" charset="0"/>
                <a:ea typeface="Calibri" panose="020F0502020204030204" pitchFamily="34" charset="0"/>
              </a:rPr>
              <a:t> M. </a:t>
            </a:r>
          </a:p>
        </p:txBody>
      </p:sp>
      <p:sp>
        <p:nvSpPr>
          <p:cNvPr id="37" name="TextBox 36">
            <a:extLst>
              <a:ext uri="{FF2B5EF4-FFF2-40B4-BE49-F238E27FC236}">
                <a16:creationId xmlns:a16="http://schemas.microsoft.com/office/drawing/2014/main" id="{29A53BB6-8AEA-4B8A-B398-7DF6D24CBDAF}"/>
              </a:ext>
            </a:extLst>
          </p:cNvPr>
          <p:cNvSpPr txBox="1"/>
          <p:nvPr/>
        </p:nvSpPr>
        <p:spPr>
          <a:xfrm>
            <a:off x="3558980" y="5856613"/>
            <a:ext cx="6932428" cy="338554"/>
          </a:xfrm>
          <a:prstGeom prst="rect">
            <a:avLst/>
          </a:prstGeom>
          <a:noFill/>
        </p:spPr>
        <p:txBody>
          <a:bodyPr wrap="square">
            <a:spAutoFit/>
          </a:bodyPr>
          <a:lstStyle/>
          <a:p>
            <a:r>
              <a:rPr lang="en-PH" sz="1600" b="1" dirty="0">
                <a:solidFill>
                  <a:srgbClr val="494D56"/>
                </a:solidFill>
              </a:rPr>
              <a:t>DevOps &amp; Deployment Specialist</a:t>
            </a:r>
          </a:p>
        </p:txBody>
      </p:sp>
      <p:sp>
        <p:nvSpPr>
          <p:cNvPr id="39" name="TextBox 38">
            <a:extLst>
              <a:ext uri="{FF2B5EF4-FFF2-40B4-BE49-F238E27FC236}">
                <a16:creationId xmlns:a16="http://schemas.microsoft.com/office/drawing/2014/main" id="{3F5040C0-F6DC-4CE6-AE42-71AC558822FA}"/>
              </a:ext>
            </a:extLst>
          </p:cNvPr>
          <p:cNvSpPr txBox="1"/>
          <p:nvPr/>
        </p:nvSpPr>
        <p:spPr>
          <a:xfrm>
            <a:off x="3540373" y="6091976"/>
            <a:ext cx="6932428" cy="307777"/>
          </a:xfrm>
          <a:prstGeom prst="rect">
            <a:avLst/>
          </a:prstGeom>
          <a:noFill/>
        </p:spPr>
        <p:txBody>
          <a:bodyPr wrap="square">
            <a:spAutoFit/>
          </a:bodyPr>
          <a:lstStyle/>
          <a:p>
            <a:r>
              <a:rPr lang="en-PH" sz="1400" dirty="0" err="1">
                <a:solidFill>
                  <a:srgbClr val="000000"/>
                </a:solidFill>
                <a:latin typeface="Calibri" panose="020F0502020204030204" pitchFamily="34" charset="0"/>
                <a:ea typeface="Calibri" panose="020F0502020204030204" pitchFamily="34" charset="0"/>
              </a:rPr>
              <a:t>Quiban</a:t>
            </a:r>
            <a:r>
              <a:rPr lang="en-PH" sz="1400" dirty="0">
                <a:solidFill>
                  <a:srgbClr val="000000"/>
                </a:solidFill>
                <a:latin typeface="Calibri" panose="020F0502020204030204" pitchFamily="34" charset="0"/>
                <a:ea typeface="Calibri" panose="020F0502020204030204" pitchFamily="34" charset="0"/>
              </a:rPr>
              <a:t>, Shanti T. </a:t>
            </a:r>
          </a:p>
        </p:txBody>
      </p:sp>
      <p:sp>
        <p:nvSpPr>
          <p:cNvPr id="42" name="TextBox 41">
            <a:extLst>
              <a:ext uri="{FF2B5EF4-FFF2-40B4-BE49-F238E27FC236}">
                <a16:creationId xmlns:a16="http://schemas.microsoft.com/office/drawing/2014/main" id="{2A0B5BDD-7E7A-4BCE-A962-A847997067B6}"/>
              </a:ext>
            </a:extLst>
          </p:cNvPr>
          <p:cNvSpPr txBox="1"/>
          <p:nvPr/>
        </p:nvSpPr>
        <p:spPr>
          <a:xfrm>
            <a:off x="6649199" y="2756224"/>
            <a:ext cx="2631568" cy="338554"/>
          </a:xfrm>
          <a:prstGeom prst="rect">
            <a:avLst/>
          </a:prstGeom>
          <a:noFill/>
        </p:spPr>
        <p:txBody>
          <a:bodyPr wrap="square">
            <a:spAutoFit/>
          </a:bodyPr>
          <a:lstStyle/>
          <a:p>
            <a:r>
              <a:rPr lang="en-PH" sz="1600" b="1" dirty="0">
                <a:solidFill>
                  <a:srgbClr val="494D56"/>
                </a:solidFill>
              </a:rPr>
              <a:t>UI/UX Lead Designer</a:t>
            </a:r>
          </a:p>
        </p:txBody>
      </p:sp>
      <p:sp>
        <p:nvSpPr>
          <p:cNvPr id="44" name="TextBox 43">
            <a:extLst>
              <a:ext uri="{FF2B5EF4-FFF2-40B4-BE49-F238E27FC236}">
                <a16:creationId xmlns:a16="http://schemas.microsoft.com/office/drawing/2014/main" id="{6121A96F-5911-4E60-868F-5A08982D593C}"/>
              </a:ext>
            </a:extLst>
          </p:cNvPr>
          <p:cNvSpPr txBox="1"/>
          <p:nvPr/>
        </p:nvSpPr>
        <p:spPr>
          <a:xfrm>
            <a:off x="6625845" y="3022733"/>
            <a:ext cx="2009553" cy="307777"/>
          </a:xfrm>
          <a:prstGeom prst="rect">
            <a:avLst/>
          </a:prstGeom>
          <a:noFill/>
        </p:spPr>
        <p:txBody>
          <a:bodyPr wrap="square">
            <a:spAutoFit/>
          </a:bodyPr>
          <a:lstStyle/>
          <a:p>
            <a:r>
              <a:rPr lang="en-PH" sz="1400" dirty="0">
                <a:solidFill>
                  <a:srgbClr val="000000"/>
                </a:solidFill>
                <a:effectLst/>
                <a:latin typeface="Calibri" panose="020F0502020204030204" pitchFamily="34" charset="0"/>
                <a:ea typeface="Calibri" panose="020F0502020204030204" pitchFamily="34" charset="0"/>
              </a:rPr>
              <a:t>Etac, Argie M. </a:t>
            </a:r>
            <a:endParaRPr lang="en-PH" sz="1400" dirty="0"/>
          </a:p>
        </p:txBody>
      </p:sp>
      <p:sp>
        <p:nvSpPr>
          <p:cNvPr id="47" name="TextBox 46">
            <a:extLst>
              <a:ext uri="{FF2B5EF4-FFF2-40B4-BE49-F238E27FC236}">
                <a16:creationId xmlns:a16="http://schemas.microsoft.com/office/drawing/2014/main" id="{FA7FE528-0890-42FD-BB8E-DA73BF185110}"/>
              </a:ext>
            </a:extLst>
          </p:cNvPr>
          <p:cNvSpPr txBox="1"/>
          <p:nvPr/>
        </p:nvSpPr>
        <p:spPr>
          <a:xfrm>
            <a:off x="6625845" y="3904055"/>
            <a:ext cx="6932428" cy="307777"/>
          </a:xfrm>
          <a:prstGeom prst="rect">
            <a:avLst/>
          </a:prstGeom>
          <a:noFill/>
        </p:spPr>
        <p:txBody>
          <a:bodyPr wrap="square">
            <a:spAutoFit/>
          </a:bodyPr>
          <a:lstStyle/>
          <a:p>
            <a:r>
              <a:rPr lang="en-PH" sz="1400" dirty="0">
                <a:solidFill>
                  <a:srgbClr val="000000"/>
                </a:solidFill>
                <a:effectLst/>
                <a:latin typeface="Calibri" panose="020F0502020204030204" pitchFamily="34" charset="0"/>
                <a:ea typeface="Calibri" panose="020F0502020204030204" pitchFamily="34" charset="0"/>
              </a:rPr>
              <a:t>Bayani, Eunice Gay D. </a:t>
            </a:r>
            <a:endParaRPr lang="en-PH" sz="1400" dirty="0"/>
          </a:p>
        </p:txBody>
      </p:sp>
      <p:sp>
        <p:nvSpPr>
          <p:cNvPr id="51" name="TextBox 50">
            <a:extLst>
              <a:ext uri="{FF2B5EF4-FFF2-40B4-BE49-F238E27FC236}">
                <a16:creationId xmlns:a16="http://schemas.microsoft.com/office/drawing/2014/main" id="{45B8ABCA-5C92-4B18-816A-13BC2D9E3DB0}"/>
              </a:ext>
            </a:extLst>
          </p:cNvPr>
          <p:cNvSpPr txBox="1"/>
          <p:nvPr/>
        </p:nvSpPr>
        <p:spPr>
          <a:xfrm>
            <a:off x="3558980" y="4509658"/>
            <a:ext cx="7612912" cy="338554"/>
          </a:xfrm>
          <a:prstGeom prst="rect">
            <a:avLst/>
          </a:prstGeom>
          <a:noFill/>
        </p:spPr>
        <p:txBody>
          <a:bodyPr wrap="square">
            <a:spAutoFit/>
          </a:bodyPr>
          <a:lstStyle/>
          <a:p>
            <a:r>
              <a:rPr lang="en-PH" sz="1600" b="1" dirty="0">
                <a:solidFill>
                  <a:srgbClr val="494D56"/>
                </a:solidFill>
              </a:rPr>
              <a:t>Lead Backend Developer</a:t>
            </a:r>
          </a:p>
        </p:txBody>
      </p:sp>
      <p:sp>
        <p:nvSpPr>
          <p:cNvPr id="53" name="TextBox 52">
            <a:extLst>
              <a:ext uri="{FF2B5EF4-FFF2-40B4-BE49-F238E27FC236}">
                <a16:creationId xmlns:a16="http://schemas.microsoft.com/office/drawing/2014/main" id="{D8DA5F32-59E4-4B8C-910B-1908DEFE7972}"/>
              </a:ext>
            </a:extLst>
          </p:cNvPr>
          <p:cNvSpPr txBox="1"/>
          <p:nvPr/>
        </p:nvSpPr>
        <p:spPr>
          <a:xfrm>
            <a:off x="9549661" y="4433105"/>
            <a:ext cx="1883494" cy="620426"/>
          </a:xfrm>
          <a:prstGeom prst="rect">
            <a:avLst/>
          </a:prstGeom>
          <a:noFill/>
        </p:spPr>
        <p:txBody>
          <a:bodyPr wrap="square">
            <a:spAutoFit/>
          </a:bodyPr>
          <a:lstStyle/>
          <a:p>
            <a:pPr marL="6350" indent="-6350">
              <a:lnSpc>
                <a:spcPct val="110000"/>
              </a:lnSpc>
              <a:spcAft>
                <a:spcPts val="920"/>
              </a:spcAft>
            </a:pPr>
            <a:r>
              <a:rPr lang="en-PH" sz="1600" b="1" dirty="0">
                <a:solidFill>
                  <a:srgbClr val="494D56"/>
                </a:solidFill>
              </a:rPr>
              <a:t>UAT Coordinator &amp; Pitch Presenter</a:t>
            </a:r>
          </a:p>
        </p:txBody>
      </p:sp>
      <p:sp>
        <p:nvSpPr>
          <p:cNvPr id="55" name="TextBox 54">
            <a:extLst>
              <a:ext uri="{FF2B5EF4-FFF2-40B4-BE49-F238E27FC236}">
                <a16:creationId xmlns:a16="http://schemas.microsoft.com/office/drawing/2014/main" id="{411EF64E-BB25-4850-9225-E28F9826D776}"/>
              </a:ext>
            </a:extLst>
          </p:cNvPr>
          <p:cNvSpPr txBox="1"/>
          <p:nvPr/>
        </p:nvSpPr>
        <p:spPr>
          <a:xfrm>
            <a:off x="9549661" y="5010702"/>
            <a:ext cx="2234293" cy="307777"/>
          </a:xfrm>
          <a:prstGeom prst="rect">
            <a:avLst/>
          </a:prstGeom>
          <a:noFill/>
        </p:spPr>
        <p:txBody>
          <a:bodyPr wrap="square">
            <a:spAutoFit/>
          </a:bodyPr>
          <a:lstStyle/>
          <a:p>
            <a:r>
              <a:rPr lang="en-PH" sz="1400" dirty="0" err="1">
                <a:solidFill>
                  <a:srgbClr val="000000"/>
                </a:solidFill>
                <a:effectLst/>
                <a:latin typeface="Calibri" panose="020F0502020204030204" pitchFamily="34" charset="0"/>
                <a:ea typeface="Calibri" panose="020F0502020204030204" pitchFamily="34" charset="0"/>
              </a:rPr>
              <a:t>Canatoy</a:t>
            </a:r>
            <a:r>
              <a:rPr lang="en-PH" sz="1400" dirty="0">
                <a:solidFill>
                  <a:srgbClr val="000000"/>
                </a:solidFill>
                <a:effectLst/>
                <a:latin typeface="Calibri" panose="020F0502020204030204" pitchFamily="34" charset="0"/>
                <a:ea typeface="Calibri" panose="020F0502020204030204" pitchFamily="34" charset="0"/>
              </a:rPr>
              <a:t>, Ara Jean C. </a:t>
            </a:r>
            <a:endParaRPr lang="en-PH" sz="1400" dirty="0"/>
          </a:p>
        </p:txBody>
      </p:sp>
      <p:sp>
        <p:nvSpPr>
          <p:cNvPr id="57" name="TextBox 56">
            <a:extLst>
              <a:ext uri="{FF2B5EF4-FFF2-40B4-BE49-F238E27FC236}">
                <a16:creationId xmlns:a16="http://schemas.microsoft.com/office/drawing/2014/main" id="{260E81ED-E049-4DCF-AA40-4545C2C5B327}"/>
              </a:ext>
            </a:extLst>
          </p:cNvPr>
          <p:cNvSpPr txBox="1"/>
          <p:nvPr/>
        </p:nvSpPr>
        <p:spPr>
          <a:xfrm>
            <a:off x="9512594" y="5422821"/>
            <a:ext cx="2815179" cy="338554"/>
          </a:xfrm>
          <a:prstGeom prst="rect">
            <a:avLst/>
          </a:prstGeom>
          <a:noFill/>
        </p:spPr>
        <p:txBody>
          <a:bodyPr wrap="square">
            <a:spAutoFit/>
          </a:bodyPr>
          <a:lstStyle/>
          <a:p>
            <a:r>
              <a:rPr lang="en-PH" sz="1600" b="1">
                <a:solidFill>
                  <a:srgbClr val="494D56"/>
                </a:solidFill>
              </a:rPr>
              <a:t>Quality Assurance Engineer</a:t>
            </a:r>
            <a:endParaRPr lang="en-PH" sz="1600" b="1" dirty="0">
              <a:solidFill>
                <a:srgbClr val="494D56"/>
              </a:solidFill>
            </a:endParaRPr>
          </a:p>
        </p:txBody>
      </p:sp>
      <p:sp>
        <p:nvSpPr>
          <p:cNvPr id="59" name="TextBox 58">
            <a:extLst>
              <a:ext uri="{FF2B5EF4-FFF2-40B4-BE49-F238E27FC236}">
                <a16:creationId xmlns:a16="http://schemas.microsoft.com/office/drawing/2014/main" id="{9CB9AFA4-F0FE-4F0B-A9C9-6543B31B7365}"/>
              </a:ext>
            </a:extLst>
          </p:cNvPr>
          <p:cNvSpPr txBox="1"/>
          <p:nvPr/>
        </p:nvSpPr>
        <p:spPr>
          <a:xfrm>
            <a:off x="9514633" y="5656558"/>
            <a:ext cx="7612912" cy="307777"/>
          </a:xfrm>
          <a:prstGeom prst="rect">
            <a:avLst/>
          </a:prstGeom>
          <a:noFill/>
        </p:spPr>
        <p:txBody>
          <a:bodyPr wrap="square">
            <a:spAutoFit/>
          </a:bodyPr>
          <a:lstStyle/>
          <a:p>
            <a:r>
              <a:rPr lang="en-PH" sz="1400" dirty="0">
                <a:solidFill>
                  <a:srgbClr val="000000"/>
                </a:solidFill>
                <a:effectLst/>
                <a:latin typeface="Calibri" panose="020F0502020204030204" pitchFamily="34" charset="0"/>
                <a:ea typeface="Calibri" panose="020F0502020204030204" pitchFamily="34" charset="0"/>
              </a:rPr>
              <a:t>Montes, Adrian S. </a:t>
            </a:r>
            <a:endParaRPr lang="en-PH" sz="1400" dirty="0"/>
          </a:p>
        </p:txBody>
      </p:sp>
      <p:sp>
        <p:nvSpPr>
          <p:cNvPr id="61" name="TextBox 60">
            <a:extLst>
              <a:ext uri="{FF2B5EF4-FFF2-40B4-BE49-F238E27FC236}">
                <a16:creationId xmlns:a16="http://schemas.microsoft.com/office/drawing/2014/main" id="{117B3089-623C-4623-A3E0-6D710A367711}"/>
              </a:ext>
            </a:extLst>
          </p:cNvPr>
          <p:cNvSpPr txBox="1"/>
          <p:nvPr/>
        </p:nvSpPr>
        <p:spPr>
          <a:xfrm>
            <a:off x="9510556" y="5984254"/>
            <a:ext cx="9399180" cy="338554"/>
          </a:xfrm>
          <a:prstGeom prst="rect">
            <a:avLst/>
          </a:prstGeom>
          <a:noFill/>
        </p:spPr>
        <p:txBody>
          <a:bodyPr wrap="square">
            <a:spAutoFit/>
          </a:bodyPr>
          <a:lstStyle/>
          <a:p>
            <a:r>
              <a:rPr lang="en-PH" sz="1600" b="1" dirty="0">
                <a:solidFill>
                  <a:srgbClr val="494D56"/>
                </a:solidFill>
              </a:rPr>
              <a:t>System Analyst</a:t>
            </a:r>
          </a:p>
        </p:txBody>
      </p:sp>
      <p:sp>
        <p:nvSpPr>
          <p:cNvPr id="63" name="TextBox 62">
            <a:extLst>
              <a:ext uri="{FF2B5EF4-FFF2-40B4-BE49-F238E27FC236}">
                <a16:creationId xmlns:a16="http://schemas.microsoft.com/office/drawing/2014/main" id="{807A94AD-83B6-47C9-BADD-7C11993E6583}"/>
              </a:ext>
            </a:extLst>
          </p:cNvPr>
          <p:cNvSpPr txBox="1"/>
          <p:nvPr/>
        </p:nvSpPr>
        <p:spPr>
          <a:xfrm>
            <a:off x="9510556" y="6244162"/>
            <a:ext cx="2506285" cy="307777"/>
          </a:xfrm>
          <a:prstGeom prst="rect">
            <a:avLst/>
          </a:prstGeom>
          <a:noFill/>
        </p:spPr>
        <p:txBody>
          <a:bodyPr wrap="square">
            <a:spAutoFit/>
          </a:bodyPr>
          <a:lstStyle/>
          <a:p>
            <a:r>
              <a:rPr lang="en-PH" sz="1400" dirty="0">
                <a:solidFill>
                  <a:srgbClr val="000000"/>
                </a:solidFill>
                <a:effectLst/>
                <a:latin typeface="Calibri" panose="020F0502020204030204" pitchFamily="34" charset="0"/>
                <a:ea typeface="Calibri" panose="020F0502020204030204" pitchFamily="34" charset="0"/>
              </a:rPr>
              <a:t>Cu, </a:t>
            </a:r>
            <a:r>
              <a:rPr lang="en-PH" sz="1400" dirty="0" err="1">
                <a:solidFill>
                  <a:srgbClr val="000000"/>
                </a:solidFill>
                <a:effectLst/>
                <a:latin typeface="Calibri" panose="020F0502020204030204" pitchFamily="34" charset="0"/>
                <a:ea typeface="Calibri" panose="020F0502020204030204" pitchFamily="34" charset="0"/>
              </a:rPr>
              <a:t>Lanze</a:t>
            </a:r>
            <a:r>
              <a:rPr lang="en-PH" sz="1400" dirty="0">
                <a:solidFill>
                  <a:srgbClr val="000000"/>
                </a:solidFill>
                <a:effectLst/>
                <a:latin typeface="Calibri" panose="020F0502020204030204" pitchFamily="34" charset="0"/>
                <a:ea typeface="Calibri" panose="020F0502020204030204" pitchFamily="34" charset="0"/>
              </a:rPr>
              <a:t> Axhel Kenneth D. </a:t>
            </a:r>
            <a:endParaRPr lang="en-PH" sz="1400" dirty="0"/>
          </a:p>
        </p:txBody>
      </p:sp>
    </p:spTree>
    <p:extLst>
      <p:ext uri="{BB962C8B-B14F-4D97-AF65-F5344CB8AC3E}">
        <p14:creationId xmlns:p14="http://schemas.microsoft.com/office/powerpoint/2010/main" val="2838223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500</TotalTime>
  <Words>1514</Words>
  <Application>Microsoft Office PowerPoint</Application>
  <PresentationFormat>Widescreen</PresentationFormat>
  <Paragraphs>176</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Aharoni</vt:lpstr>
      <vt:lpstr>Arial</vt:lpstr>
      <vt:lpstr>Arial Black</vt:lpstr>
      <vt:lpstr>Arial Narrow</vt:lpstr>
      <vt:lpstr>Calibri</vt:lpstr>
      <vt:lpstr>Calibri Light</vt:lpstr>
      <vt:lpstr>Franklin Gothic Demi Cond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Jonel Bayani</dc:creator>
  <cp:lastModifiedBy>cateargie@gmail.com</cp:lastModifiedBy>
  <cp:revision>40</cp:revision>
  <dcterms:created xsi:type="dcterms:W3CDTF">2026-09-07T06:34:33Z</dcterms:created>
  <dcterms:modified xsi:type="dcterms:W3CDTF">2026-10-18T16:12:05Z</dcterms:modified>
</cp:coreProperties>
</file>